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76" r:id="rId5"/>
    <p:sldId id="264" r:id="rId6"/>
    <p:sldId id="277" r:id="rId7"/>
    <p:sldId id="274" r:id="rId8"/>
    <p:sldId id="269" r:id="rId9"/>
    <p:sldId id="275" r:id="rId10"/>
    <p:sldId id="271" r:id="rId11"/>
    <p:sldId id="270" r:id="rId12"/>
    <p:sldId id="279" r:id="rId13"/>
    <p:sldId id="273" r:id="rId14"/>
    <p:sldId id="282" r:id="rId15"/>
    <p:sldId id="283" r:id="rId16"/>
    <p:sldId id="281" r:id="rId17"/>
    <p:sldId id="285" r:id="rId18"/>
    <p:sldId id="284" r:id="rId19"/>
    <p:sldId id="286" r:id="rId20"/>
    <p:sldId id="266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0471" autoAdjust="0"/>
    <p:restoredTop sz="75899" autoAdjust="0"/>
  </p:normalViewPr>
  <p:slideViewPr>
    <p:cSldViewPr>
      <p:cViewPr>
        <p:scale>
          <a:sx n="60" d="100"/>
          <a:sy n="6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5" d="100"/>
        <a:sy n="95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1136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967074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064433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-</a:t>
            </a:r>
            <a:r>
              <a:rPr xmlns:mc="http://schemas.openxmlformats.org/markup-compatibility/2006" xmlns:hp="http://schemas.haansoft.com/office/presentation/8.0" lang="ko-KR" altLang="en-US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  </a:t>
            </a: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EC2 </a:t>
            </a:r>
            <a:r>
              <a:rPr xmlns:mc="http://schemas.openxmlformats.org/markup-compatibility/2006" xmlns:hp="http://schemas.haansoft.com/office/presentation/8.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서버의 패키지를 최신화</a:t>
            </a:r>
            <a:endParaRPr xmlns:mc="http://schemas.openxmlformats.org/markup-compatibility/2006" xmlns:hp="http://schemas.haansoft.com/office/presentation/8.0" b="1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-</a:t>
            </a:r>
            <a:r>
              <a:rPr xmlns:mc="http://schemas.openxmlformats.org/markup-compatibility/2006" xmlns:hp="http://schemas.haansoft.com/office/presentation/8.0" lang="ko-KR" altLang="en-US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  </a:t>
            </a: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Suricata </a:t>
            </a:r>
            <a:r>
              <a:rPr xmlns:mc="http://schemas.openxmlformats.org/markup-compatibility/2006" xmlns:hp="http://schemas.haansoft.com/office/presentation/8.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설치를 위한 의존성을 설치</a:t>
            </a:r>
            <a:endParaRPr xmlns:mc="http://schemas.openxmlformats.org/markup-compatibility/2006" xmlns:hp="http://schemas.haansoft.com/office/presentation/8.0" lang="EN-US" b="1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906038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08789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IDS</a:t>
            </a:r>
            <a:r>
              <a:rPr lang="ko-KR" altLang="en-US"/>
              <a:t>가 어떤 네트워크 범위</a:t>
            </a:r>
            <a:r>
              <a:rPr lang="en-US" altLang="ko-KR"/>
              <a:t>(HOME_NET)</a:t>
            </a:r>
            <a:r>
              <a:rPr lang="ko-KR" altLang="en-US"/>
              <a:t>를 감시할지</a:t>
            </a:r>
            <a:r>
              <a:rPr lang="en-US" altLang="ko-KR"/>
              <a:t>,</a:t>
            </a:r>
            <a:r>
              <a:rPr lang="ko-KR" altLang="en-US"/>
              <a:t> 어떤 인터페이스 패킷</a:t>
            </a:r>
            <a:r>
              <a:rPr lang="en-US" altLang="ko-KR"/>
              <a:t>(ex: ens5)</a:t>
            </a:r>
            <a:r>
              <a:rPr lang="ko-KR" altLang="en-US"/>
              <a:t>을 받아들일지 설정하는 단계</a:t>
            </a:r>
            <a:r>
              <a:rPr lang="en-US" altLang="ko-KR"/>
              <a:t>!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ens5: AWS </a:t>
            </a:r>
            <a:r>
              <a:rPr lang="ko-KR" altLang="en-US"/>
              <a:t>서버의 인터페이스의 이름임</a:t>
            </a:r>
            <a:r>
              <a:rPr lang="en-US" altLang="ko-KR"/>
              <a:t>!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추후 수리카타가 이 인터페이스</a:t>
            </a:r>
            <a:r>
              <a:rPr lang="en-US" altLang="ko-KR"/>
              <a:t>(ens5)</a:t>
            </a:r>
            <a:r>
              <a:rPr lang="ko-KR" altLang="en-US"/>
              <a:t>를 감시하게 됨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인터페이스</a:t>
            </a:r>
            <a:r>
              <a:rPr lang="en-US" altLang="ko-KR"/>
              <a:t>:</a:t>
            </a:r>
            <a:r>
              <a:rPr lang="ko-KR" altLang="en-US"/>
              <a:t> 컴퓨터(서버)가 외부 네트워크와 데이터를 주고받는 출입구 역할을 하는 장치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HOME_NET</a:t>
            </a:r>
            <a:r>
              <a:rPr lang="en-US" altLang="ko-KR"/>
              <a:t>: Suricata가 보호(</a:t>
            </a:r>
            <a:r>
              <a:rPr lang="ko-KR" altLang="en-US"/>
              <a:t>감시</a:t>
            </a:r>
            <a:r>
              <a:rPr lang="en-US" altLang="ko-KR"/>
              <a:t>)할 내부 네트</a:t>
            </a:r>
            <a:r>
              <a:rPr lang="ko-KR" altLang="en-US"/>
              <a:t>워크</a:t>
            </a:r>
            <a:r>
              <a:rPr lang="en-US" altLang="ko-KR"/>
              <a:t> </a:t>
            </a:r>
            <a:r>
              <a:rPr lang="ko-KR" altLang="en-US"/>
              <a:t>대역을 지정해 놓은 것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-&gt; </a:t>
            </a:r>
            <a:r>
              <a:rPr lang="ko-KR" altLang="en-US"/>
              <a:t>현재 수리카타에는 </a:t>
            </a:r>
            <a:r>
              <a:rPr lang="en-US" altLang="ko-KR"/>
              <a:t>HOME_NET: "[192.168.0.0/16, 10.0.0.0/8, 172.16.0.0/12]"</a:t>
            </a:r>
            <a:r>
              <a:rPr lang="ko-KR" altLang="en-US"/>
              <a:t>으로 설정되어 있음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  이 세 가지의 대역은 일반적으로 많이 쓰이는 사설 </a:t>
            </a:r>
            <a:r>
              <a:rPr lang="en-US" altLang="ko-KR"/>
              <a:t>IP</a:t>
            </a:r>
            <a:r>
              <a:rPr lang="ko-KR" altLang="en-US"/>
              <a:t> 대역</a:t>
            </a:r>
            <a:r>
              <a:rPr lang="en-US" altLang="ko-KR"/>
              <a:t>(Private IP Ranges)</a:t>
            </a:r>
            <a:r>
              <a:rPr lang="ko-KR" altLang="en-US"/>
              <a:t>임</a:t>
            </a:r>
            <a:r>
              <a:rPr lang="en-US" altLang="ko-KR"/>
              <a:t> 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   </a:t>
            </a:r>
            <a:r>
              <a:rPr lang="en-US" altLang="ko-KR"/>
              <a:t>-</a:t>
            </a:r>
            <a:r>
              <a:rPr lang="ko-KR" altLang="en-US"/>
              <a:t> 192.168.0.0/16</a:t>
            </a:r>
            <a:r>
              <a:rPr lang="en-US" altLang="ko-KR"/>
              <a:t>:</a:t>
            </a:r>
            <a:r>
              <a:rPr lang="ko-KR" altLang="en-US"/>
              <a:t> 가정용 공유기, 소규모 사설망 범위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</a:t>
            </a:r>
            <a:r>
              <a:rPr lang="en-US" altLang="ko-KR"/>
              <a:t>-</a:t>
            </a:r>
            <a:r>
              <a:rPr lang="ko-KR" altLang="en-US"/>
              <a:t>  10.0.0.0/8</a:t>
            </a:r>
            <a:r>
              <a:rPr lang="en-US" altLang="ko-KR"/>
              <a:t>:</a:t>
            </a:r>
            <a:r>
              <a:rPr lang="ko-KR" altLang="en-US"/>
              <a:t> 기업용 내부망 (AWS VPC 기본 CIDR도 여기에 속함)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</a:t>
            </a:r>
            <a:r>
              <a:rPr lang="en-US" altLang="ko-KR"/>
              <a:t>-</a:t>
            </a:r>
            <a:r>
              <a:rPr lang="ko-KR" altLang="en-US"/>
              <a:t>  172.16.0.0/12</a:t>
            </a:r>
            <a:r>
              <a:rPr lang="en-US" altLang="ko-KR"/>
              <a:t>:</a:t>
            </a:r>
            <a:r>
              <a:rPr lang="ko-KR" altLang="en-US"/>
              <a:t>  AWS EC2, GCP, Azure 등 클라우드 환경의 내부 IP 범위 </a:t>
            </a:r>
            <a:r>
              <a:rPr lang="en-US" altLang="ko-KR"/>
              <a:t>&lt;---</a:t>
            </a:r>
            <a:r>
              <a:rPr lang="ko-KR" altLang="en-US"/>
              <a:t> </a:t>
            </a:r>
            <a:r>
              <a:rPr lang="en-US" altLang="ko-KR"/>
              <a:t>172.31.41.68</a:t>
            </a:r>
            <a:r>
              <a:rPr lang="ko-KR" altLang="en-US"/>
              <a:t> 우리의 프라이빗 </a:t>
            </a:r>
            <a:r>
              <a:rPr lang="en-US" altLang="ko-KR"/>
              <a:t>IP</a:t>
            </a:r>
            <a:r>
              <a:rPr lang="ko-KR" altLang="en-US"/>
              <a:t>가 여기에 포함되어 있음</a:t>
            </a:r>
            <a:r>
              <a:rPr lang="en-US" altLang="ko-KR"/>
              <a:t>!!</a:t>
            </a: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  이 사설 </a:t>
            </a:r>
            <a:r>
              <a:rPr lang="en-US" altLang="ko-KR"/>
              <a:t>IP</a:t>
            </a:r>
            <a:r>
              <a:rPr lang="ko-KR" altLang="en-US"/>
              <a:t> 대역은 사설망에 가장 널리 쓰이는 범위라서 대부분 내부망을 한 번에 커버함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추후 수리카타는 이 범위 내의  </a:t>
            </a:r>
            <a:r>
              <a:rPr lang="en-US" altLang="ko-KR"/>
              <a:t>IP</a:t>
            </a:r>
            <a:r>
              <a:rPr lang="ko-KR" altLang="en-US"/>
              <a:t>에서 오가는 트레픽을 감시해줄 것임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  하지만 추후 더 명확히 하고 싶다면 </a:t>
            </a:r>
            <a:r>
              <a:rPr lang="en-US" altLang="ko-KR"/>
              <a:t>HOME_NET</a:t>
            </a:r>
            <a:r>
              <a:rPr lang="ko-KR" altLang="en-US"/>
              <a:t>을 우리 프라이빗</a:t>
            </a:r>
            <a:r>
              <a:rPr lang="en-US" altLang="ko-KR"/>
              <a:t> IP</a:t>
            </a:r>
            <a:r>
              <a:rPr lang="ko-KR" altLang="en-US"/>
              <a:t>로 지정해 주면 된다  </a:t>
            </a:r>
            <a:r>
              <a:rPr lang="en-US" altLang="ko-KR"/>
              <a:t>(ex: HOME_NET: “[172.31.41.68/32]”)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결론적으로 </a:t>
            </a:r>
            <a:r>
              <a:rPr lang="en-US" altLang="ko-KR"/>
              <a:t>ens5</a:t>
            </a:r>
            <a:r>
              <a:rPr lang="ko-KR" altLang="en-US"/>
              <a:t>는 </a:t>
            </a:r>
            <a:r>
              <a:rPr lang="en-US" altLang="ko-KR"/>
              <a:t>Suricata</a:t>
            </a:r>
            <a:r>
              <a:rPr lang="ko-KR" altLang="en-US"/>
              <a:t>가 트레픽을 받아올 실제 네트워크 통로이고 </a:t>
            </a:r>
            <a:r>
              <a:rPr lang="en-US" altLang="ko-KR"/>
              <a:t>HOME_NET</a:t>
            </a:r>
            <a:r>
              <a:rPr lang="ko-KR" altLang="en-US"/>
              <a:t>은 우리 네트워크로 인식해서 보호할 </a:t>
            </a:r>
            <a:r>
              <a:rPr lang="en-US" altLang="ko-KR"/>
              <a:t>IP</a:t>
            </a:r>
            <a:r>
              <a:rPr lang="ko-KR" altLang="en-US"/>
              <a:t> 범위를 정해주는 부분임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055363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&lt;</a:t>
            </a:r>
            <a:r>
              <a:rPr lang="ko-KR" altLang="en-US"/>
              <a:t>간단 설명</a:t>
            </a:r>
            <a:r>
              <a:rPr lang="en-US" altLang="ko-KR"/>
              <a:t>&gt;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Suricata</a:t>
            </a:r>
            <a:r>
              <a:rPr lang="ko-KR" altLang="en-US"/>
              <a:t>가 공격을 탐지하려면 패킷을 읽어야 함 </a:t>
            </a:r>
            <a:r>
              <a:rPr lang="en-US" altLang="ko-KR"/>
              <a:t>-&gt;</a:t>
            </a:r>
            <a:r>
              <a:rPr lang="ko-KR" altLang="en-US"/>
              <a:t> 하지만 패킷을 읽으려면 관리자</a:t>
            </a:r>
            <a:r>
              <a:rPr lang="en-US" altLang="ko-KR"/>
              <a:t>(root)</a:t>
            </a:r>
            <a:r>
              <a:rPr lang="ko-KR" altLang="en-US"/>
              <a:t> 권한이 필요함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그런데 </a:t>
            </a:r>
            <a:r>
              <a:rPr lang="en-US" altLang="ko-KR"/>
              <a:t>Suricata</a:t>
            </a:r>
            <a:r>
              <a:rPr lang="ko-KR" altLang="en-US"/>
              <a:t>가 관리자 권한을 가진채 해킹을 당하거나 오류가 생기면 서버 자체에 큰 위험이 될 수 있음</a:t>
            </a:r>
            <a:r>
              <a:rPr lang="en-US" altLang="ko-KR"/>
              <a:t>.</a:t>
            </a:r>
            <a:r>
              <a:rPr lang="ko-KR" altLang="en-US"/>
              <a:t> 그래서 아예 패킷</a:t>
            </a:r>
            <a:r>
              <a:rPr lang="en-US" altLang="ko-KR"/>
              <a:t> </a:t>
            </a:r>
            <a:r>
              <a:rPr lang="ko-KR" altLang="en-US"/>
              <a:t>읽기만을 허용한 수리카타 전용 계정을 만듦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&lt;</a:t>
            </a:r>
            <a:r>
              <a:rPr lang="ko-KR" altLang="en-US"/>
              <a:t>전체 흐름</a:t>
            </a:r>
            <a:r>
              <a:rPr lang="en-US" altLang="ko-KR"/>
              <a:t>&gt;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Suricata </a:t>
            </a:r>
            <a:r>
              <a:rPr lang="ko-KR" altLang="en-US"/>
              <a:t>전용</a:t>
            </a:r>
            <a:r>
              <a:rPr lang="en-US" altLang="ko-KR"/>
              <a:t> </a:t>
            </a:r>
            <a:r>
              <a:rPr lang="ko-KR" altLang="en-US"/>
              <a:t>사용자</a:t>
            </a:r>
            <a:r>
              <a:rPr lang="en-US" altLang="ko-KR"/>
              <a:t>(suricata)</a:t>
            </a:r>
            <a:r>
              <a:rPr lang="ko-KR" altLang="en-US"/>
              <a:t>만들기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Suicata</a:t>
            </a:r>
            <a:r>
              <a:rPr lang="ko-KR" altLang="en-US"/>
              <a:t>만 실행할 수 있는 독립된 계정을 만들어 </a:t>
            </a:r>
            <a:r>
              <a:rPr lang="en-US" altLang="ko-KR"/>
              <a:t>root</a:t>
            </a:r>
            <a:r>
              <a:rPr lang="ko-KR" altLang="en-US"/>
              <a:t> 권한과 완전히 분리함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필요한 최소 권한 </a:t>
            </a:r>
            <a:r>
              <a:rPr lang="en-US" altLang="ko-KR"/>
              <a:t>(cap_net_admin, cap_net_raw)</a:t>
            </a:r>
            <a:r>
              <a:rPr lang="ko-KR" altLang="en-US"/>
              <a:t>만 부여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 </a:t>
            </a:r>
            <a:r>
              <a:rPr lang="en-US" altLang="ko-KR"/>
              <a:t>-&gt;</a:t>
            </a:r>
            <a:r>
              <a:rPr lang="ko-KR" altLang="en-US"/>
              <a:t> 시스템을 변경하거나 조작할 수는 없지만 네트워크 트레픽</a:t>
            </a:r>
            <a:r>
              <a:rPr lang="en-US" altLang="ko-KR"/>
              <a:t>(</a:t>
            </a:r>
            <a:r>
              <a:rPr lang="ko-KR" altLang="en-US"/>
              <a:t>패킷</a:t>
            </a:r>
            <a:r>
              <a:rPr lang="en-US" altLang="ko-KR"/>
              <a:t>)</a:t>
            </a:r>
            <a:r>
              <a:rPr lang="ko-KR" altLang="en-US"/>
              <a:t>을 읽고 감시할 수 있도록 최소한의 권한만 허용함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&lt;</a:t>
            </a:r>
            <a:r>
              <a:rPr lang="ko-KR" altLang="en-US"/>
              <a:t>그룹</a:t>
            </a:r>
            <a:r>
              <a:rPr lang="en-US" altLang="ko-KR"/>
              <a:t>/</a:t>
            </a:r>
            <a:r>
              <a:rPr lang="ko-KR" altLang="en-US"/>
              <a:t> 사용자</a:t>
            </a:r>
            <a:r>
              <a:rPr lang="en-US" altLang="ko-KR"/>
              <a:t>&gt;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사용자 </a:t>
            </a:r>
            <a:r>
              <a:rPr lang="en-US" altLang="ko-KR"/>
              <a:t>(User):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-&gt; Suricata</a:t>
            </a:r>
            <a:r>
              <a:rPr lang="ko-KR" altLang="en-US"/>
              <a:t>를 실행하는 전용 계정으로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  추후 </a:t>
            </a:r>
            <a:r>
              <a:rPr lang="en-US" altLang="ko-KR"/>
              <a:t>root </a:t>
            </a:r>
            <a:r>
              <a:rPr lang="ko-KR" altLang="en-US"/>
              <a:t>대신</a:t>
            </a:r>
            <a:r>
              <a:rPr lang="en-US" altLang="ko-KR"/>
              <a:t> Suricata</a:t>
            </a:r>
            <a:r>
              <a:rPr lang="ko-KR" altLang="en-US"/>
              <a:t>만 안전하게 동작하도록 만든 계정임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그룹 (Group)</a:t>
            </a:r>
            <a:r>
              <a:rPr lang="en-US" altLang="ko-KR"/>
              <a:t>: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Suricata</a:t>
            </a:r>
            <a:r>
              <a:rPr lang="ko-KR" altLang="en-US"/>
              <a:t> 사용자가 속한 권한 영역으로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  Suricata가 로그와 설정 파일에 접근할 수 있도록 권한을 부여해줌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&lt;</a:t>
            </a:r>
            <a:r>
              <a:rPr lang="ko-KR" altLang="en-US"/>
              <a:t>권한 기능</a:t>
            </a:r>
            <a:r>
              <a:rPr lang="en-US" altLang="ko-KR"/>
              <a:t>&gt;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cap_net_admin(네트워크 관리 권한)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Suricata가 네트워크 인터페이스(ens5)를 제어하고, 패킷을 수집하거나 네트워크 정보를 읽을 수 있게 해주는 권한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ex) </a:t>
            </a:r>
            <a:r>
              <a:rPr lang="ko-KR" altLang="en-US"/>
              <a:t>인터페이스 감시 모드 설정</a:t>
            </a:r>
            <a:r>
              <a:rPr lang="en-US" altLang="ko-KR"/>
              <a:t>,</a:t>
            </a:r>
            <a:r>
              <a:rPr lang="ko-KR" altLang="en-US"/>
              <a:t> 패킷 캡처 시작</a:t>
            </a:r>
            <a:r>
              <a:rPr lang="en-US" altLang="ko-KR"/>
              <a:t>/</a:t>
            </a:r>
            <a:r>
              <a:rPr lang="ko-KR" altLang="en-US"/>
              <a:t>중지</a:t>
            </a:r>
            <a:r>
              <a:rPr lang="en-US" altLang="ko-KR"/>
              <a:t>,</a:t>
            </a:r>
            <a:r>
              <a:rPr lang="ko-KR" altLang="en-US"/>
              <a:t> 네트워크 설정 읽기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cap_net_raw(Raw</a:t>
            </a:r>
            <a:r>
              <a:rPr lang="ko-KR" altLang="en-US"/>
              <a:t> 패킷 접근 권한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Suricata가 가공되지 않은 네트워크 패킷(raw packet) 을 직접 읽고 분석할 수 있게 해주는 권한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ex) Ping(ICMP), TCP SYN 같은 패킷 직접 확인, 공격 탐지용 패킷 분석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702456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&lt;</a:t>
            </a:r>
            <a:r>
              <a:rPr lang="ko-KR" altLang="en-US"/>
              <a:t>간단 설명</a:t>
            </a:r>
            <a:r>
              <a:rPr lang="en-US" altLang="ko-KR"/>
              <a:t>&gt;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1.</a:t>
            </a:r>
            <a:r>
              <a:rPr lang="ko-KR" altLang="en-US"/>
              <a:t> 사용자 계정과 그룹을 생성했으면  최소 권한을 부여함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cap_net_admin(네트워크 관리 권한), cap_net_raw(raw </a:t>
            </a:r>
            <a:r>
              <a:rPr lang="ko-KR" altLang="en-US"/>
              <a:t>패킷 접근 권한</a:t>
            </a:r>
            <a:r>
              <a:rPr lang="en-US" altLang="ko-KR"/>
              <a:t>)</a:t>
            </a:r>
            <a:r>
              <a:rPr lang="ko-KR" altLang="en-US"/>
              <a:t> 부여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2.</a:t>
            </a:r>
            <a:r>
              <a:rPr lang="ko-KR" altLang="en-US"/>
              <a:t>  </a:t>
            </a:r>
            <a:r>
              <a:rPr lang="en-US" altLang="ko-KR"/>
              <a:t>/var/log/suricata</a:t>
            </a:r>
            <a:r>
              <a:rPr lang="ko-KR" altLang="en-US"/>
              <a:t>와 </a:t>
            </a:r>
            <a:r>
              <a:rPr lang="en-US" altLang="ko-KR"/>
              <a:t>/var/etc/suricata</a:t>
            </a:r>
            <a:r>
              <a:rPr lang="ko-KR" altLang="en-US"/>
              <a:t> 소유권을 </a:t>
            </a:r>
            <a:r>
              <a:rPr lang="en-US" altLang="ko-KR"/>
              <a:t>suricata(</a:t>
            </a:r>
            <a:r>
              <a:rPr lang="ko-KR" altLang="en-US"/>
              <a:t>우리가</a:t>
            </a:r>
            <a:r>
              <a:rPr lang="en-US" altLang="ko-KR"/>
              <a:t> </a:t>
            </a:r>
            <a:r>
              <a:rPr lang="ko-KR" altLang="en-US"/>
              <a:t>만든 사용자</a:t>
            </a:r>
            <a:r>
              <a:rPr lang="en-US" altLang="ko-KR"/>
              <a:t>/</a:t>
            </a:r>
            <a:r>
              <a:rPr lang="ko-KR" altLang="en-US"/>
              <a:t>그룹</a:t>
            </a:r>
            <a:r>
              <a:rPr lang="en-US" altLang="ko-KR"/>
              <a:t>)</a:t>
            </a:r>
            <a:r>
              <a:rPr lang="ko-KR" altLang="en-US"/>
              <a:t>로 변경해주어야 함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 </a:t>
            </a:r>
            <a:r>
              <a:rPr lang="en-US" altLang="ko-KR"/>
              <a:t>-&gt;</a:t>
            </a:r>
            <a:r>
              <a:rPr lang="ko-KR" altLang="en-US"/>
              <a:t> 실행 중인 로그 파일 생성하고 </a:t>
            </a:r>
            <a:r>
              <a:rPr lang="en-US" altLang="ko-KR"/>
              <a:t>(var/log/suricata)</a:t>
            </a:r>
            <a:r>
              <a:rPr lang="ko-KR" altLang="en-US"/>
              <a:t> 자신의 설정 파일을 읽을 수 있도록 </a:t>
            </a:r>
            <a:r>
              <a:rPr lang="en-US" altLang="ko-KR"/>
              <a:t>(/etc/suricata)</a:t>
            </a:r>
            <a:r>
              <a:rPr lang="ko-KR" altLang="en-US"/>
              <a:t> 최소한의 권한을 부여하는 것임</a:t>
            </a: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3.</a:t>
            </a:r>
            <a:r>
              <a:rPr lang="ko-KR" altLang="en-US"/>
              <a:t>  </a:t>
            </a:r>
            <a:r>
              <a:rPr lang="en-US" altLang="ko-KR"/>
              <a:t>suricata</a:t>
            </a:r>
            <a:r>
              <a:rPr lang="ko-KR" altLang="en-US"/>
              <a:t> 실행 시 </a:t>
            </a:r>
            <a:r>
              <a:rPr lang="en-US" altLang="ko-KR"/>
              <a:t>suricata</a:t>
            </a:r>
            <a:r>
              <a:rPr lang="ko-KR" altLang="en-US"/>
              <a:t>전용 계정으로 실행되게 시스템</a:t>
            </a:r>
            <a:r>
              <a:rPr lang="en-US" altLang="ko-KR"/>
              <a:t>(</a:t>
            </a:r>
            <a:r>
              <a:rPr lang="ko-KR" altLang="en-US"/>
              <a:t>시스템 환경에서</a:t>
            </a:r>
            <a:r>
              <a:rPr lang="en-US" altLang="ko-KR"/>
              <a:t>)</a:t>
            </a:r>
            <a:r>
              <a:rPr lang="ko-KR" altLang="en-US"/>
              <a:t>을 변경해준다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&lt;</a:t>
            </a:r>
            <a:r>
              <a:rPr lang="ko-KR" altLang="en-US"/>
              <a:t>명령어 해석</a:t>
            </a:r>
            <a:r>
              <a:rPr lang="en-US" altLang="ko-KR"/>
              <a:t>&gt;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ex) sudo chown -R suricata:suricata </a:t>
            </a:r>
            <a:r>
              <a:rPr lang="en-US" altLang="ko-KR">
                <a:solidFill>
                  <a:srgbClr val="783e94"/>
                </a:solidFill>
              </a:rPr>
              <a:t>/var/log/suricata</a:t>
            </a:r>
            <a:endParaRPr lang="en-US" altLang="ko-KR">
              <a:solidFill>
                <a:srgbClr val="783e94"/>
              </a:solidFill>
            </a:endParaRPr>
          </a:p>
          <a:p>
            <a:pPr lvl="0">
              <a:defRPr/>
            </a:pPr>
            <a:r>
              <a:rPr lang="en-US" altLang="ko-KR">
                <a:solidFill>
                  <a:srgbClr val="783e94"/>
                </a:solidFill>
              </a:rPr>
              <a:t>--sudo: </a:t>
            </a:r>
            <a:r>
              <a:rPr lang="ko-KR" altLang="en-US">
                <a:solidFill>
                  <a:srgbClr val="783e94"/>
                </a:solidFill>
              </a:rPr>
              <a:t>관리자</a:t>
            </a:r>
            <a:r>
              <a:rPr lang="en-US" altLang="ko-KR">
                <a:solidFill>
                  <a:srgbClr val="783e94"/>
                </a:solidFill>
              </a:rPr>
              <a:t> </a:t>
            </a:r>
            <a:r>
              <a:rPr lang="ko-KR" altLang="en-US">
                <a:solidFill>
                  <a:srgbClr val="783e94"/>
                </a:solidFill>
              </a:rPr>
              <a:t>권한 </a:t>
            </a:r>
            <a:endParaRPr lang="ko-KR" altLang="en-US">
              <a:solidFill>
                <a:srgbClr val="783e94"/>
              </a:solidFill>
            </a:endParaRPr>
          </a:p>
          <a:p>
            <a:pPr lvl="0">
              <a:defRPr/>
            </a:pPr>
            <a:r>
              <a:rPr lang="en-US" altLang="ko-KR">
                <a:solidFill>
                  <a:srgbClr val="783e94"/>
                </a:solidFill>
              </a:rPr>
              <a:t>--chown:</a:t>
            </a:r>
            <a:r>
              <a:rPr lang="ko-KR" altLang="en-US"/>
              <a:t> 소유권</a:t>
            </a:r>
            <a:r>
              <a:rPr lang="en-US" altLang="ko-KR"/>
              <a:t> </a:t>
            </a:r>
            <a:r>
              <a:rPr lang="ko-KR" altLang="en-US"/>
              <a:t>변경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-R:</a:t>
            </a:r>
            <a:r>
              <a:rPr lang="ko-KR" altLang="en-US"/>
              <a:t>하위</a:t>
            </a:r>
            <a:r>
              <a:rPr lang="en-US" altLang="ko-KR"/>
              <a:t> </a:t>
            </a:r>
            <a:r>
              <a:rPr lang="ko-KR" altLang="en-US"/>
              <a:t>디렉터리까지 모두 적용</a:t>
            </a:r>
            <a:r>
              <a:rPr lang="en-US" altLang="ko-KR"/>
              <a:t> 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--suricata:suricata: </a:t>
            </a:r>
            <a:r>
              <a:rPr lang="ko-KR" altLang="en-US"/>
              <a:t>사용자 이름</a:t>
            </a:r>
            <a:r>
              <a:rPr lang="en-US" altLang="ko-KR"/>
              <a:t>:</a:t>
            </a:r>
            <a:r>
              <a:rPr lang="ko-KR" altLang="en-US"/>
              <a:t>그룹 이름 </a:t>
            </a:r>
            <a:r>
              <a:rPr lang="en-US" altLang="ko-KR"/>
              <a:t>(</a:t>
            </a:r>
            <a:r>
              <a:rPr lang="ko-KR" altLang="en-US"/>
              <a:t>해당 그룹과 사용자로 소유권 지정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>
                <a:solidFill>
                  <a:srgbClr val="783e94"/>
                </a:solidFill>
              </a:rPr>
              <a:t>/var/log/suricata:</a:t>
            </a:r>
            <a:r>
              <a:rPr lang="ko-KR" altLang="en-US">
                <a:solidFill>
                  <a:srgbClr val="783e94"/>
                </a:solidFill>
              </a:rPr>
              <a:t> 해당 경로</a:t>
            </a:r>
            <a:endParaRPr lang="ko-KR" altLang="en-US">
              <a:solidFill>
                <a:srgbClr val="783e94"/>
              </a:solidFill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소유권을 변경할 때 왜 </a:t>
            </a:r>
            <a:r>
              <a:rPr lang="en-US" altLang="ko-KR"/>
              <a:t>Suricata</a:t>
            </a:r>
            <a:r>
              <a:rPr lang="ko-KR" altLang="en-US"/>
              <a:t>만 접근 가능 하게 설정했을까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접근</a:t>
            </a:r>
            <a:r>
              <a:rPr lang="en-US" altLang="ko-KR"/>
              <a:t> </a:t>
            </a:r>
            <a:r>
              <a:rPr lang="ko-KR" altLang="en-US"/>
              <a:t>권한 확인 방법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 </a:t>
            </a:r>
            <a:r>
              <a:rPr lang="ko-KR" altLang="en-US"/>
              <a:t>ls -ld </a:t>
            </a:r>
            <a:r>
              <a:rPr lang="en-US" altLang="ko-KR"/>
              <a:t>/</a:t>
            </a:r>
            <a:r>
              <a:rPr lang="ko-KR" altLang="en-US"/>
              <a:t>해당 경로</a:t>
            </a:r>
            <a:r>
              <a:rPr lang="en-US" altLang="ko-KR"/>
              <a:t>)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-&gt;</a:t>
            </a:r>
            <a:r>
              <a:rPr lang="ko-KR" altLang="en-US"/>
              <a:t> 침입 탐지 시스템</a:t>
            </a:r>
            <a:r>
              <a:rPr lang="en-US" altLang="ko-KR"/>
              <a:t>(IDS)</a:t>
            </a:r>
            <a:r>
              <a:rPr lang="ko-KR" altLang="en-US"/>
              <a:t>는 매우 민감한 정보를 다루기 때문에</a:t>
            </a:r>
            <a:r>
              <a:rPr lang="en-US" altLang="ko-KR"/>
              <a:t>,</a:t>
            </a:r>
            <a:r>
              <a:rPr lang="ko-KR" altLang="en-US"/>
              <a:t> 다른 일반사용자가 접근하거나 변조하는 것을 원천적으로 막은 것임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  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955001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sudo systemctl status suricata --no-pager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-&gt;</a:t>
            </a:r>
            <a:r>
              <a:rPr lang="ko-KR" altLang="en-US"/>
              <a:t> 시스템 서비스의 현재 상태를 확인하는 명령어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439280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룰</a:t>
            </a:r>
            <a:r>
              <a:rPr lang="en-US" altLang="ko-KR"/>
              <a:t>(rule)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룰 </a:t>
            </a:r>
            <a:r>
              <a:rPr lang="en-US" altLang="ko-KR"/>
              <a:t>=</a:t>
            </a:r>
            <a:r>
              <a:rPr lang="ko-KR" altLang="en-US"/>
              <a:t> 감지 기준표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네트워크에서 어떤 패킷이 들어오면 이 패킷을 어떻게 인식할지</a:t>
            </a:r>
            <a:r>
              <a:rPr lang="en-US" altLang="ko-KR"/>
              <a:t>(</a:t>
            </a:r>
            <a:r>
              <a:rPr lang="ko-KR" altLang="en-US"/>
              <a:t>공격으로 의심할지 안 할지</a:t>
            </a:r>
            <a:r>
              <a:rPr lang="en-US" altLang="ko-KR"/>
              <a:t>)</a:t>
            </a:r>
            <a:r>
              <a:rPr lang="ko-KR" altLang="en-US"/>
              <a:t>를 정의해주는 단계</a:t>
            </a:r>
            <a:r>
              <a:rPr lang="en-US" altLang="ko-KR"/>
              <a:t>!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룰 정의할 때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ex) </a:t>
            </a:r>
            <a:r>
              <a:rPr lang="ko-KR" altLang="en-US"/>
              <a:t>누군가 내 서버의 </a:t>
            </a:r>
            <a:r>
              <a:rPr lang="en-US" altLang="ko-KR"/>
              <a:t>22</a:t>
            </a:r>
            <a:r>
              <a:rPr lang="ko-KR" altLang="en-US"/>
              <a:t>번</a:t>
            </a:r>
            <a:r>
              <a:rPr lang="en-US" altLang="ko-KR"/>
              <a:t>(SSH)</a:t>
            </a:r>
            <a:r>
              <a:rPr lang="ko-KR" altLang="en-US"/>
              <a:t> 포트로 연결을 시도하면 알려라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룰</a:t>
            </a:r>
            <a:r>
              <a:rPr lang="en-US" altLang="ko-KR"/>
              <a:t>(rule)</a:t>
            </a:r>
            <a:r>
              <a:rPr lang="ko-KR" altLang="en-US"/>
              <a:t>이 왜 필요할까</a:t>
            </a:r>
            <a:r>
              <a:rPr lang="en-US" altLang="ko-KR"/>
              <a:t>?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Suricata</a:t>
            </a:r>
            <a:r>
              <a:rPr lang="ko-KR" altLang="en-US"/>
              <a:t> 자체는 패킷을 읽기만 할뿐 직접적으로 공격인지 일반 트레픽인지 구별하지 못함 </a:t>
            </a:r>
            <a:r>
              <a:rPr lang="en-US" altLang="ko-KR"/>
              <a:t>&lt;</a:t>
            </a:r>
            <a:r>
              <a:rPr lang="ko-KR" altLang="en-US"/>
              <a:t> </a:t>
            </a:r>
            <a:r>
              <a:rPr lang="en-US" altLang="ko-KR"/>
              <a:t>----</a:t>
            </a:r>
            <a:r>
              <a:rPr lang="ko-KR" altLang="en-US"/>
              <a:t> 이 부분을 직접 정의 해주는 게 룰 설정임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(</a:t>
            </a:r>
            <a:r>
              <a:rPr lang="ko-KR" altLang="en-US"/>
              <a:t>우리가 만든</a:t>
            </a:r>
            <a:r>
              <a:rPr lang="en-US" altLang="ko-KR"/>
              <a:t>)</a:t>
            </a:r>
            <a:r>
              <a:rPr lang="ko-KR" altLang="en-US"/>
              <a:t> 로컬 룰</a:t>
            </a:r>
            <a:r>
              <a:rPr lang="en-US" altLang="ko-KR"/>
              <a:t>(local rule)</a:t>
            </a:r>
            <a:r>
              <a:rPr lang="ko-KR" altLang="en-US"/>
              <a:t>은 무엇을 탐지할까</a:t>
            </a:r>
            <a:r>
              <a:rPr lang="en-US" altLang="ko-KR"/>
              <a:t>?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테스트용으로  가볍게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우리가 열어둔 포트</a:t>
            </a:r>
            <a:r>
              <a:rPr lang="en-US" altLang="ko-KR"/>
              <a:t>(SSH, ICMP, http)</a:t>
            </a:r>
            <a:r>
              <a:rPr lang="ko-KR" altLang="en-US"/>
              <a:t>에 접근</a:t>
            </a:r>
            <a:r>
              <a:rPr lang="en-US" altLang="ko-KR"/>
              <a:t>/</a:t>
            </a:r>
            <a:r>
              <a:rPr lang="ko-KR" altLang="en-US"/>
              <a:t>스캔 시 탐지하도록 정의함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기본적으로 어떻게 동작할까</a:t>
            </a:r>
            <a:r>
              <a:rPr lang="en-US" altLang="ko-KR"/>
              <a:t>?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룰과 들어오는 패킷을 비교하여 조건에 맞으면 </a:t>
            </a:r>
            <a:r>
              <a:rPr lang="en-US" altLang="ko-KR"/>
              <a:t>alert</a:t>
            </a:r>
            <a:r>
              <a:rPr lang="ko-KR" altLang="en-US"/>
              <a:t> 이벤트를 만들고 </a:t>
            </a:r>
            <a:r>
              <a:rPr lang="en-US" altLang="ko-KR"/>
              <a:t>eve.json</a:t>
            </a:r>
            <a:r>
              <a:rPr lang="ko-KR" altLang="en-US"/>
              <a:t>와 </a:t>
            </a:r>
            <a:r>
              <a:rPr lang="en-US" altLang="ko-KR"/>
              <a:t>fast.log</a:t>
            </a:r>
            <a:r>
              <a:rPr lang="ko-KR" altLang="en-US"/>
              <a:t>에 기록한다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 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-</a:t>
            </a:r>
            <a:r>
              <a:rPr lang="ko-KR" altLang="en-US"/>
              <a:t> 명령어 해석 </a:t>
            </a:r>
            <a:r>
              <a:rPr lang="en-US" altLang="ko-KR"/>
              <a:t>-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- 룰(rule) 디렉토리를 생성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- 소유자를 최고 관리자(root)로 지정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- 소유자 외에는 읽기 권한만 허용</a:t>
            </a:r>
            <a:r>
              <a:rPr lang="en-US" altLang="ko-KR"/>
              <a:t> 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368022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604227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078580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473949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944762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993317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alert(</a:t>
            </a:r>
            <a:r>
              <a:rPr lang="ko-KR" altLang="en-US"/>
              <a:t>경고 이벤트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-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탐지된 이벤트 자체를 기록한 부분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즉</a:t>
            </a:r>
            <a:r>
              <a:rPr lang="en-US" altLang="ko-KR"/>
              <a:t>,</a:t>
            </a:r>
            <a:r>
              <a:rPr lang="ko-KR" altLang="en-US"/>
              <a:t> 어떤 룰에 의해 어떤 행위가 탐지되었는지를 보여줌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timestamp: 2025-10-19T19:24:21.496814+0000 → 탐지 시각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flow_id: 1570851266392267 → 트래픽 흐름 ID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in_iface: ens5 → 감시 인터페이스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event_type: alert → 이벤트 타입 (알람)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src_ip:src_port → 124.50.92.50:8314 → 출발지 IP:포트 (공격자 / 테스트 머신)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dest_ip:dest_port → 172.31.41.68:22 → 목적지 IP:포트 (모니터링 서버의 SSH)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proto: TCP → 프로토콜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ip_v: 4 → IPv4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pkt_src: wire/pcap → 패킷 캡처 소스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alert → action: allowed → 트래픽 상태 (허용 / 탐지만)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alert → gid:sid:rev → 1:10000001:1  (GID:SID:REV, SID = 우리가 지정한 룰 ID)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alert → signature → LOCAL TEST SSH SYN DETECTED → 룰 msg (탐지 메시지)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alert → category → (빈값) → 룰 분류 없음(테스트 룰)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alert → severity → 3 → 심각도 (중간)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direction: to_server → 트래픽 방향 (서버로 향함)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flow → pkts_toserver: 1, pkts_toclient: 0 → 플로우 패킷 수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flow → bytes_toserver: 66, bytes_toclient: 0 → 플로우 바이트 수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flow → start: 2025-10-19T19:24:21.496814+0000 → 플로우 시작 시각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04941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pkts = packets (</a:t>
            </a:r>
            <a:r>
              <a:rPr lang="ko-KR" altLang="en-US"/>
              <a:t>패킷들</a:t>
            </a:r>
            <a:r>
              <a:rPr lang="en-US" altLang="ko-KR"/>
              <a:t>)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pkts_toserver = packets to server (클라이언트 → 서버 방향으로 보낸 패킷 개수)</a:t>
            </a:r>
            <a:r>
              <a:rPr lang="ko-KR" altLang="en-US"/>
              <a:t> </a:t>
            </a:r>
            <a:r>
              <a:rPr lang="en-US" altLang="ko-KR"/>
              <a:t>-----&gt;</a:t>
            </a:r>
            <a:r>
              <a:rPr lang="ko-KR" altLang="en-US"/>
              <a:t> 요청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pkts_toclient =  packets to client (서버 → 클라이언트 방향으로 보낸 패킷 개수)</a:t>
            </a:r>
            <a:r>
              <a:rPr lang="ko-KR" altLang="en-US"/>
              <a:t> </a:t>
            </a:r>
            <a:r>
              <a:rPr lang="en-US" altLang="ko-KR"/>
              <a:t>-----&gt;</a:t>
            </a:r>
            <a:r>
              <a:rPr lang="ko-KR" altLang="en-US"/>
              <a:t> 응답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클라이언트 </a:t>
            </a:r>
            <a:r>
              <a:rPr lang="en-US" altLang="ko-KR"/>
              <a:t>=</a:t>
            </a:r>
            <a:r>
              <a:rPr lang="ko-KR" altLang="en-US"/>
              <a:t> 공격 서버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서버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EC2 </a:t>
            </a:r>
            <a:r>
              <a:rPr lang="ko-KR" altLang="en-US"/>
              <a:t>서버</a:t>
            </a:r>
            <a:r>
              <a:rPr lang="en-US" altLang="ko-KR"/>
              <a:t> 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218743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pkts = packets (</a:t>
            </a:r>
            <a:r>
              <a:rPr lang="ko-KR" altLang="en-US"/>
              <a:t>패킷들</a:t>
            </a:r>
            <a:r>
              <a:rPr lang="en-US" altLang="ko-KR"/>
              <a:t>)</a:t>
            </a: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pkts_toserver = packets to server (클라이언트 → 서버 방향으로 보낸 패킷 개수)</a:t>
            </a:r>
            <a:r>
              <a:rPr lang="ko-KR" altLang="en-US"/>
              <a:t> </a:t>
            </a:r>
            <a:r>
              <a:rPr lang="en-US" altLang="ko-KR"/>
              <a:t>-----&gt;</a:t>
            </a:r>
            <a:r>
              <a:rPr lang="ko-KR" altLang="en-US"/>
              <a:t> 요청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pkts_toclient =  packets to client (서버 → 클라이언트 방향으로 보낸 패킷 개수)</a:t>
            </a:r>
            <a:r>
              <a:rPr lang="ko-KR" altLang="en-US"/>
              <a:t> </a:t>
            </a:r>
            <a:r>
              <a:rPr lang="en-US" altLang="ko-KR"/>
              <a:t>-----&gt;</a:t>
            </a:r>
            <a:r>
              <a:rPr lang="ko-KR" altLang="en-US"/>
              <a:t> 응답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클라이언트 </a:t>
            </a:r>
            <a:r>
              <a:rPr lang="en-US" altLang="ko-KR"/>
              <a:t>=</a:t>
            </a:r>
            <a:r>
              <a:rPr lang="ko-KR" altLang="en-US"/>
              <a:t> 공격 서버</a:t>
            </a:r>
            <a:endParaRPr lang="ko-KR" altLang="en-US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/>
              <a:t>서버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EC2 </a:t>
            </a:r>
            <a:r>
              <a:rPr lang="ko-KR" altLang="en-US"/>
              <a:t>서버</a:t>
            </a:r>
            <a:r>
              <a:rPr lang="en-US" altLang="ko-KR"/>
              <a:t> 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8800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14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Relationship Id="rId8" Type="http://schemas.openxmlformats.org/officeDocument/2006/relationships/image" Target="../media/image12.png"  /><Relationship Id="rId9" Type="http://schemas.openxmlformats.org/officeDocument/2006/relationships/image" Target="../media/image1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22.png"  /><Relationship Id="rId8" Type="http://schemas.openxmlformats.org/officeDocument/2006/relationships/image" Target="../media/image2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Relationship Id="rId6" Type="http://schemas.openxmlformats.org/officeDocument/2006/relationships/image" Target="../media/image28.png"  /><Relationship Id="rId7" Type="http://schemas.openxmlformats.org/officeDocument/2006/relationships/image" Target="../media/image29.png"  /><Relationship Id="rId8" Type="http://schemas.openxmlformats.org/officeDocument/2006/relationships/image" Target="../media/image30.png"  /><Relationship Id="rId9" Type="http://schemas.openxmlformats.org/officeDocument/2006/relationships/image" Target="../media/image3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Relationship Id="rId6" Type="http://schemas.openxmlformats.org/officeDocument/2006/relationships/image" Target="../media/image36.png"  /><Relationship Id="rId7" Type="http://schemas.openxmlformats.org/officeDocument/2006/relationships/image" Target="../media/image3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7.xml"  /><Relationship Id="rId3" Type="http://schemas.openxmlformats.org/officeDocument/2006/relationships/video" Target="file:///C:\Users\NLab\Documents\&#52852;&#52852;&#50724;&#53665;%20&#48155;&#51008;%20&#54028;&#51068;\KakaoTalk_20251021_175355292.mp4" TargetMode="External" /><Relationship Id="rId4" Type="http://schemas.microsoft.com/office/2007/relationships/media" Target="file:///C:\Users\NLab\Documents\&#52852;&#52852;&#50724;&#53665;%20&#48155;&#51008;%20&#54028;&#51068;\KakaoTalk_20251021_175355292.mp4" TargetMode="External" /><Relationship Id="rId5" Type="http://schemas.openxmlformats.org/officeDocument/2006/relationships/image" Target="../media/image3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7.xml"  /><Relationship Id="rId3" Type="http://schemas.openxmlformats.org/officeDocument/2006/relationships/video" Target="file:///C:\Users\NLab\Documents\&#52852;&#52852;&#50724;&#53665;%20&#48155;&#51008;%20&#54028;&#51068;\KakaoTalk_20251021_175347593.mp4" TargetMode="External" /><Relationship Id="rId4" Type="http://schemas.microsoft.com/office/2007/relationships/media" Target="file:///C:\Users\NLab\Documents\&#52852;&#52852;&#50724;&#53665;%20&#48155;&#51008;%20&#54028;&#51068;\KakaoTalk_20251021_175347593.mp4" TargetMode="External" /><Relationship Id="rId5" Type="http://schemas.openxmlformats.org/officeDocument/2006/relationships/image" Target="../media/image4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42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12436" y="816258"/>
            <a:ext cx="2884832" cy="737968"/>
            <a:chOff x="0" y="0"/>
            <a:chExt cx="759791" cy="194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9791" cy="194362"/>
            </a:xfrm>
            <a:custGeom>
              <a:avLst/>
              <a:gdLst/>
              <a:ahLst/>
              <a:cxnLst/>
              <a:rect r="r" b="b" t="t" l="l"/>
              <a:pathLst>
                <a:path h="194362" w="759791">
                  <a:moveTo>
                    <a:pt x="97181" y="0"/>
                  </a:moveTo>
                  <a:lnTo>
                    <a:pt x="662610" y="0"/>
                  </a:lnTo>
                  <a:cubicBezTo>
                    <a:pt x="716282" y="0"/>
                    <a:pt x="759791" y="43509"/>
                    <a:pt x="759791" y="97181"/>
                  </a:cubicBezTo>
                  <a:lnTo>
                    <a:pt x="759791" y="97181"/>
                  </a:lnTo>
                  <a:cubicBezTo>
                    <a:pt x="759791" y="122955"/>
                    <a:pt x="749552" y="147673"/>
                    <a:pt x="731327" y="165898"/>
                  </a:cubicBezTo>
                  <a:cubicBezTo>
                    <a:pt x="713102" y="184123"/>
                    <a:pt x="688384" y="194362"/>
                    <a:pt x="662610" y="194362"/>
                  </a:cubicBezTo>
                  <a:lnTo>
                    <a:pt x="97181" y="194362"/>
                  </a:lnTo>
                  <a:cubicBezTo>
                    <a:pt x="71407" y="194362"/>
                    <a:pt x="46689" y="184123"/>
                    <a:pt x="28464" y="165898"/>
                  </a:cubicBezTo>
                  <a:cubicBezTo>
                    <a:pt x="10239" y="147673"/>
                    <a:pt x="0" y="122955"/>
                    <a:pt x="0" y="97181"/>
                  </a:cubicBezTo>
                  <a:lnTo>
                    <a:pt x="0" y="97181"/>
                  </a:lnTo>
                  <a:cubicBezTo>
                    <a:pt x="0" y="71407"/>
                    <a:pt x="10239" y="46689"/>
                    <a:pt x="28464" y="28464"/>
                  </a:cubicBezTo>
                  <a:cubicBezTo>
                    <a:pt x="46689" y="10239"/>
                    <a:pt x="71407" y="0"/>
                    <a:pt x="9718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9791" cy="232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33600" y="3695700"/>
            <a:ext cx="15022088" cy="18573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14647"/>
              </a:lnSpc>
              <a:spcBef>
                <a:spcPct val="0"/>
              </a:spcBef>
              <a:defRPr/>
            </a:pPr>
            <a:r>
              <a:rPr lang="en-US" altLang="ko-KR" sz="8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Suricata IDS</a:t>
            </a:r>
            <a:r>
              <a:rPr lang="ko-KR" altLang="en-US" sz="8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탐지 시스템</a:t>
            </a:r>
            <a:endParaRPr lang="ko-KR" altLang="en-US" sz="84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897080"/>
            <a:ext cx="1363135" cy="35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en-US" b="true" sz="210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CONTACT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464852"/>
            <a:ext cx="1994892" cy="36482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943"/>
              </a:lnSpc>
              <a:spcBef>
                <a:spcPct val="0"/>
              </a:spcBef>
              <a:defRPr/>
            </a:pPr>
            <a:r>
              <a:rPr lang="en-US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+1</a:t>
            </a:r>
            <a:r>
              <a:rPr lang="en-US" altLang="ko-KR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</a:t>
            </a:r>
            <a:r>
              <a:rPr lang="en-US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-</a:t>
            </a:r>
            <a:r>
              <a:rPr lang="en-US" altLang="ko-KR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7225</a:t>
            </a:r>
            <a:r>
              <a:rPr lang="en-US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-7</a:t>
            </a:r>
            <a:r>
              <a:rPr lang="en-US" altLang="ko-KR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329</a:t>
            </a:r>
            <a:endParaRPr lang="en-US" altLang="ko-KR" sz="2102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8902121"/>
            <a:ext cx="3219376" cy="3657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943"/>
              </a:lnSpc>
              <a:spcBef>
                <a:spcPct val="0"/>
              </a:spcBef>
              <a:defRPr/>
            </a:pPr>
            <a:r>
              <a:rPr lang="en-US" altLang="ko-KR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pkrgpth0619@naver</a:t>
            </a:r>
            <a:r>
              <a:rPr lang="en-US" sz="2102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.com</a:t>
            </a:r>
            <a:endParaRPr lang="en-US" sz="2102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253795" y="5634944"/>
            <a:ext cx="5780410" cy="40134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220"/>
              </a:lnSpc>
              <a:spcBef>
                <a:spcPct val="0"/>
              </a:spcBef>
              <a:defRPr/>
            </a:pPr>
            <a:r>
              <a:rPr lang="en-US" altLang="ko-KR" sz="23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Netfriend </a:t>
            </a:r>
            <a:r>
              <a:rPr lang="ko-KR" altLang="en-US" sz="23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박혜소</a:t>
            </a:r>
            <a:endParaRPr lang="ko-KR" altLang="en-US" sz="2300">
              <a:solidFill>
                <a:srgbClr val="000000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14958822" y="1028700"/>
            <a:ext cx="2414778" cy="3524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803"/>
              </a:lnSpc>
              <a:spcBef>
                <a:spcPct val="0"/>
              </a:spcBef>
              <a:defRPr/>
            </a:pPr>
            <a:r>
              <a:rPr lang="en-US" altLang="ko-KR" sz="2200" b="1">
                <a:solidFill>
                  <a:srgbClr val="ebeef0"/>
                </a:solidFill>
                <a:latin typeface="Inter Bold"/>
                <a:ea typeface="Inter Bold"/>
                <a:cs typeface="Inter Bold"/>
                <a:sym typeface="Inter Bold"/>
              </a:rPr>
              <a:t>IDS </a:t>
            </a:r>
            <a:r>
              <a:rPr lang="ko-KR" altLang="en-US" sz="2200" b="1">
                <a:solidFill>
                  <a:srgbClr val="ebeef0"/>
                </a:solidFill>
                <a:latin typeface="Inter Bold"/>
                <a:ea typeface="Inter Bold"/>
                <a:cs typeface="Inter Bold"/>
                <a:sym typeface="Inter Bold"/>
              </a:rPr>
              <a:t>탐지 시스템 </a:t>
            </a:r>
            <a:endParaRPr lang="ko-KR" altLang="en-US" sz="2200" b="1">
              <a:solidFill>
                <a:srgbClr val="ebeef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581400" y="3826627"/>
            <a:ext cx="6410300" cy="9467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ko-KR" altLang="en-US" sz="300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altLang="ko-KR" sz="300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Suicata IDS </a:t>
            </a:r>
            <a:r>
              <a:rPr lang="ko-KR" altLang="en-US" sz="300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설치</a:t>
            </a:r>
            <a:endParaRPr lang="ko-KR" altLang="en-US" sz="3000" b="1" u="none" strike="noStrike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48099" y="4847651"/>
            <a:ext cx="6257900" cy="9472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ko-KR" alt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네트워크 인터페이스 설정</a:t>
            </a:r>
            <a:endParaRPr lang="ko-KR" altLang="en-US" sz="30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15385" y="3826627"/>
            <a:ext cx="1423015" cy="9467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altLang="ko-KR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n-US" altLang="ko-KR"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5266" y="4788226"/>
            <a:ext cx="468734" cy="94582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altLang="ko-KR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n-US" altLang="ko-KR"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99944" y="4907502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9" name="AutoShape 9"/>
          <p:cNvSpPr/>
          <p:nvPr/>
        </p:nvSpPr>
        <p:spPr>
          <a:xfrm>
            <a:off x="799944" y="5869101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0" name="AutoShape 10"/>
          <p:cNvSpPr/>
          <p:nvPr/>
        </p:nvSpPr>
        <p:spPr>
          <a:xfrm>
            <a:off x="799944" y="6830701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1" name="AutoShape 11"/>
          <p:cNvSpPr/>
          <p:nvPr/>
        </p:nvSpPr>
        <p:spPr>
          <a:xfrm>
            <a:off x="799944" y="7792300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2" name="AutoShape 12"/>
          <p:cNvSpPr/>
          <p:nvPr/>
        </p:nvSpPr>
        <p:spPr>
          <a:xfrm>
            <a:off x="799944" y="8753900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15385" y="5749826"/>
            <a:ext cx="480640" cy="94624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altLang="ko-KR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n-US" altLang="ko-KR"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5385" y="6711425"/>
            <a:ext cx="482798" cy="946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altLang="ko-KR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n-US" altLang="ko-KR"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5385" y="7673025"/>
            <a:ext cx="469776" cy="947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altLang="ko-KR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n-US" altLang="ko-KR"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691533" y="5792582"/>
            <a:ext cx="6900267" cy="95111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ko-KR" alt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사용자</a:t>
            </a:r>
            <a:r>
              <a:rPr lang="en-US" altLang="ko-KR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/</a:t>
            </a:r>
            <a:r>
              <a:rPr lang="ko-KR" alt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그룹 생성 및 권한 설정</a:t>
            </a:r>
            <a:endParaRPr lang="ko-KR" altLang="en-US" sz="30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2" name="TextBox 17"/>
          <p:cNvSpPr txBox="1"/>
          <p:nvPr/>
        </p:nvSpPr>
        <p:spPr>
          <a:xfrm>
            <a:off x="3657600" y="7658100"/>
            <a:ext cx="3776067" cy="9525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ko-KR" alt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룰</a:t>
            </a:r>
            <a:r>
              <a:rPr lang="en-US" altLang="ko-KR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(rule)</a:t>
            </a:r>
            <a:r>
              <a:rPr lang="ko-KR" alt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업데이트</a:t>
            </a:r>
            <a:endParaRPr lang="ko-KR" altLang="en-US" sz="30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3" name="TextBox 17"/>
          <p:cNvSpPr txBox="1"/>
          <p:nvPr/>
        </p:nvSpPr>
        <p:spPr>
          <a:xfrm>
            <a:off x="3691532" y="6743700"/>
            <a:ext cx="5528668" cy="9482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altLang="ko-KR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Suricata </a:t>
            </a:r>
            <a:r>
              <a:rPr lang="ko-KR" alt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실행 </a:t>
            </a:r>
            <a:endParaRPr lang="ko-KR" altLang="en-US" sz="30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4" name="AutoShape 12"/>
          <p:cNvSpPr/>
          <p:nvPr/>
        </p:nvSpPr>
        <p:spPr>
          <a:xfrm>
            <a:off x="876144" y="9639300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5" name="TextBox 15"/>
          <p:cNvSpPr txBox="1"/>
          <p:nvPr/>
        </p:nvSpPr>
        <p:spPr>
          <a:xfrm>
            <a:off x="990600" y="8634625"/>
            <a:ext cx="469776" cy="9525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altLang="ko-KR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n-US" altLang="ko-KR"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TextBox 17"/>
          <p:cNvSpPr txBox="1"/>
          <p:nvPr/>
        </p:nvSpPr>
        <p:spPr>
          <a:xfrm>
            <a:off x="3691531" y="8633617"/>
            <a:ext cx="5528668" cy="9490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ko-KR" altLang="en-US" sz="30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공격 탐지 및 로그 확인</a:t>
            </a:r>
            <a:endParaRPr lang="ko-KR" altLang="en-US" sz="3000" b="1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7" name="가로 글상자 26"/>
          <p:cNvSpPr txBox="1"/>
          <p:nvPr/>
        </p:nvSpPr>
        <p:spPr>
          <a:xfrm>
            <a:off x="7809070" y="1167765"/>
            <a:ext cx="2858930" cy="120205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7300" b="1"/>
              <a:t> </a:t>
            </a:r>
            <a:r>
              <a:rPr lang="en-US" altLang="ko-KR" sz="7300" b="1"/>
              <a:t>index </a:t>
            </a:r>
            <a:endParaRPr lang="en-US" altLang="ko-KR" sz="7300" b="1"/>
          </a:p>
        </p:txBody>
      </p:sp>
      <p:sp>
        <p:nvSpPr>
          <p:cNvPr id="28" name="AutoShape 8"/>
          <p:cNvSpPr/>
          <p:nvPr/>
        </p:nvSpPr>
        <p:spPr>
          <a:xfrm>
            <a:off x="799944" y="4000500"/>
            <a:ext cx="1680225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9" name="TextBox 6"/>
          <p:cNvSpPr txBox="1"/>
          <p:nvPr/>
        </p:nvSpPr>
        <p:spPr>
          <a:xfrm>
            <a:off x="990600" y="2977520"/>
            <a:ext cx="1423015" cy="9467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altLang="ko-KR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n-US" sz="3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TextBox 4"/>
          <p:cNvSpPr txBox="1"/>
          <p:nvPr/>
        </p:nvSpPr>
        <p:spPr>
          <a:xfrm>
            <a:off x="3648100" y="2979476"/>
            <a:ext cx="6410300" cy="9467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7500"/>
              </a:lnSpc>
              <a:defRPr/>
            </a:pPr>
            <a:r>
              <a:rPr lang="ko-KR" altLang="en-US" sz="300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시각화 </a:t>
            </a:r>
            <a:r>
              <a:rPr lang="en-US" altLang="ko-KR" sz="300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(</a:t>
            </a:r>
            <a:r>
              <a:rPr lang="ko-KR" altLang="en-US" sz="300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흐름 설명</a:t>
            </a:r>
            <a:r>
              <a:rPr lang="en-US" altLang="ko-KR" sz="3000" b="1" u="none" strike="noStrik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)</a:t>
            </a:r>
            <a:endParaRPr lang="en-US" altLang="ko-KR" sz="3000" b="1" u="none" strike="noStrike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4476750" y="621030"/>
            <a:ext cx="97726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 IDS</a:t>
            </a: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 탐지 시스템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53" name="가로 글상자 52"/>
          <p:cNvSpPr txBox="1"/>
          <p:nvPr/>
        </p:nvSpPr>
        <p:spPr>
          <a:xfrm>
            <a:off x="838196" y="2781300"/>
            <a:ext cx="7825744" cy="883920"/>
          </a:xfrm>
          <a:prstGeom prst="rect">
            <a:avLst/>
          </a:prstGeom>
        </p:spPr>
        <p:txBody>
          <a:bodyPr wrap="non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lang="ko-KR" altLang="en-US" sz="2100" b="1"/>
              <a:t>IDS </a:t>
            </a:r>
            <a:r>
              <a:rPr lang="en-US" altLang="ko-KR" sz="2100" b="1"/>
              <a:t>(</a:t>
            </a:r>
            <a:r>
              <a:rPr lang="ko-KR" altLang="en-US" sz="2100" b="1"/>
              <a:t>Intrusion Detection System</a:t>
            </a:r>
            <a:r>
              <a:rPr lang="en-US" altLang="ko-KR" sz="2100" b="1"/>
              <a:t>)</a:t>
            </a:r>
            <a:r>
              <a:rPr lang="ko-KR" altLang="en-US" sz="2100"/>
              <a:t> : 침입을 ‘탐지’하는 보안 시스템 </a:t>
            </a:r>
            <a:endParaRPr lang="ko-KR" altLang="en-US" sz="2100"/>
          </a:p>
          <a:p>
            <a:pPr marL="257040" lvl="0" indent="-257040">
              <a:lnSpc>
                <a:spcPct val="50000"/>
              </a:lnSpc>
              <a:buFont typeface="Arial"/>
              <a:buChar char="•"/>
              <a:defRPr/>
            </a:pPr>
            <a:endParaRPr lang="ko-KR" altLang="en-US" sz="2100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sz="2100" b="1"/>
              <a:t>Suricata</a:t>
            </a:r>
            <a:r>
              <a:rPr lang="ko-KR" altLang="en-US" sz="2100"/>
              <a:t> : IDS 기능을 실제로 수행하는 오픈소스 탐지 엔진</a:t>
            </a:r>
            <a:endParaRPr lang="ko-KR" altLang="en-US" sz="2100"/>
          </a:p>
        </p:txBody>
      </p:sp>
      <p:sp>
        <p:nvSpPr>
          <p:cNvPr id="55" name="직사각형 54"/>
          <p:cNvSpPr/>
          <p:nvPr/>
        </p:nvSpPr>
        <p:spPr>
          <a:xfrm>
            <a:off x="5745480" y="5143500"/>
            <a:ext cx="4038600" cy="297180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5745480" y="4417695"/>
            <a:ext cx="4038600" cy="736708"/>
          </a:xfrm>
          <a:prstGeom prst="rect">
            <a:avLst/>
          </a:prstGeom>
          <a:solidFill>
            <a:srgbClr val="a6a6a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4" name="가로 글상자 63"/>
          <p:cNvSpPr txBox="1"/>
          <p:nvPr/>
        </p:nvSpPr>
        <p:spPr>
          <a:xfrm>
            <a:off x="6629400" y="4605337"/>
            <a:ext cx="2265919" cy="42195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200"/>
              <a:t>Suricata (IDS</a:t>
            </a:r>
            <a:r>
              <a:rPr lang="ko-KR" altLang="en-US" sz="2200"/>
              <a:t> 엔진</a:t>
            </a:r>
            <a:r>
              <a:rPr lang="en-US" altLang="ko-KR" sz="2200"/>
              <a:t>)</a:t>
            </a:r>
            <a:endParaRPr lang="en-US" altLang="ko-KR" sz="2200"/>
          </a:p>
        </p:txBody>
      </p:sp>
      <p:sp>
        <p:nvSpPr>
          <p:cNvPr id="65" name="가로 글상자 64"/>
          <p:cNvSpPr txBox="1"/>
          <p:nvPr/>
        </p:nvSpPr>
        <p:spPr>
          <a:xfrm>
            <a:off x="5913120" y="5537835"/>
            <a:ext cx="4069080" cy="212026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900"/>
              <a:t> ① 패킷 수집 (Packet Capture)</a:t>
            </a:r>
            <a:endParaRPr lang="ko-KR" altLang="en-US" sz="1900"/>
          </a:p>
          <a:p>
            <a:pPr lvl="0">
              <a:defRPr/>
            </a:pPr>
            <a:r>
              <a:rPr lang="ko-KR" altLang="en-US" sz="1900"/>
              <a:t>         </a:t>
            </a:r>
            <a:endParaRPr lang="ko-KR" altLang="en-US" sz="1900"/>
          </a:p>
          <a:p>
            <a:pPr lvl="0">
              <a:defRPr/>
            </a:pPr>
            <a:r>
              <a:rPr lang="ko-KR" altLang="en-US" sz="1900"/>
              <a:t> ② 프로토콜 분석 (Decode)  </a:t>
            </a:r>
            <a:endParaRPr lang="ko-KR" altLang="en-US" sz="1900"/>
          </a:p>
          <a:p>
            <a:pPr lvl="0">
              <a:defRPr/>
            </a:pPr>
            <a:r>
              <a:rPr lang="ko-KR" altLang="en-US" sz="1900"/>
              <a:t>           </a:t>
            </a:r>
            <a:endParaRPr lang="ko-KR" altLang="en-US" sz="1900"/>
          </a:p>
          <a:p>
            <a:pPr lvl="0">
              <a:defRPr/>
            </a:pPr>
            <a:r>
              <a:rPr lang="ko-KR" altLang="en-US" sz="1900"/>
              <a:t> ③ 룰 검사 (Rule Engine)         </a:t>
            </a:r>
            <a:endParaRPr lang="ko-KR" altLang="en-US" sz="1900"/>
          </a:p>
          <a:p>
            <a:pPr lvl="0">
              <a:defRPr/>
            </a:pPr>
            <a:r>
              <a:rPr lang="ko-KR" altLang="en-US" sz="1900"/>
              <a:t>     </a:t>
            </a:r>
            <a:endParaRPr lang="ko-KR" altLang="en-US" sz="1900"/>
          </a:p>
          <a:p>
            <a:pPr lvl="0">
              <a:defRPr/>
            </a:pPr>
            <a:r>
              <a:rPr lang="ko-KR" altLang="en-US" sz="1900"/>
              <a:t> ④ 탐지 시 Alert 생성 및 로그 기록 </a:t>
            </a:r>
            <a:endParaRPr lang="ko-KR" altLang="en-US" sz="1900"/>
          </a:p>
        </p:txBody>
      </p:sp>
      <p:sp>
        <p:nvSpPr>
          <p:cNvPr id="66" name="오른쪽 화살표 65"/>
          <p:cNvSpPr/>
          <p:nvPr/>
        </p:nvSpPr>
        <p:spPr>
          <a:xfrm rot="19315">
            <a:off x="4875730" y="5906026"/>
            <a:ext cx="610039" cy="2263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8" name="가로 글상자 67"/>
          <p:cNvSpPr txBox="1"/>
          <p:nvPr/>
        </p:nvSpPr>
        <p:spPr>
          <a:xfrm>
            <a:off x="16078200" y="5926455"/>
            <a:ext cx="243840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685800" y="5676900"/>
            <a:ext cx="3863340" cy="609600"/>
          </a:xfrm>
          <a:prstGeom prst="rect">
            <a:avLst/>
          </a:prstGeom>
          <a:solidFill>
            <a:schemeClr val="accent2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5" name="가로 글상자 74"/>
          <p:cNvSpPr txBox="1"/>
          <p:nvPr/>
        </p:nvSpPr>
        <p:spPr>
          <a:xfrm>
            <a:off x="927735" y="5812155"/>
            <a:ext cx="3491865" cy="39624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000"/>
              <a:t>네트워크</a:t>
            </a:r>
            <a:r>
              <a:rPr lang="en-US" altLang="ko-KR" sz="2000"/>
              <a:t> </a:t>
            </a:r>
            <a:r>
              <a:rPr lang="ko-KR" altLang="en-US" sz="2000"/>
              <a:t>트레픽 </a:t>
            </a:r>
            <a:r>
              <a:rPr lang="en-US" altLang="ko-KR" sz="2000"/>
              <a:t>(</a:t>
            </a:r>
            <a:r>
              <a:rPr lang="ko-KR" altLang="en-US" sz="2000"/>
              <a:t>공격 </a:t>
            </a:r>
            <a:r>
              <a:rPr lang="en-US" altLang="ko-KR" sz="2000"/>
              <a:t>/</a:t>
            </a:r>
            <a:r>
              <a:rPr lang="ko-KR" altLang="en-US" sz="2000"/>
              <a:t> 요청</a:t>
            </a:r>
            <a:r>
              <a:rPr lang="en-US" altLang="ko-KR" sz="2000"/>
              <a:t>)</a:t>
            </a:r>
            <a:endParaRPr lang="en-US" altLang="ko-KR" sz="2000"/>
          </a:p>
        </p:txBody>
      </p:sp>
      <p:sp>
        <p:nvSpPr>
          <p:cNvPr id="76" name="직사각형 75"/>
          <p:cNvSpPr/>
          <p:nvPr/>
        </p:nvSpPr>
        <p:spPr>
          <a:xfrm>
            <a:off x="10788220" y="5676900"/>
            <a:ext cx="3124200" cy="838200"/>
          </a:xfrm>
          <a:prstGeom prst="rect">
            <a:avLst/>
          </a:prstGeom>
          <a:solidFill>
            <a:srgbClr val="6182d6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7" name="가로 글상자 76"/>
          <p:cNvSpPr txBox="1"/>
          <p:nvPr/>
        </p:nvSpPr>
        <p:spPr>
          <a:xfrm>
            <a:off x="10852785" y="5746055"/>
            <a:ext cx="3015615" cy="692845"/>
          </a:xfrm>
          <a:prstGeom prst="rect">
            <a:avLst/>
          </a:prstGeom>
        </p:spPr>
        <p:txBody>
          <a:bodyPr wrap="square">
            <a:spAutoFit/>
          </a:bodyPr>
          <a:p>
            <a:pPr marL="285600" lvl="0" indent="-285600">
              <a:buFont typeface="Arial"/>
              <a:buChar char="•"/>
              <a:defRPr/>
            </a:pPr>
            <a:r>
              <a:rPr lang="en-US" altLang="ko-KR" sz="2000"/>
              <a:t>fast.log</a:t>
            </a:r>
            <a:r>
              <a:rPr lang="ko-KR" altLang="en-US" sz="2000"/>
              <a:t> </a:t>
            </a:r>
            <a:r>
              <a:rPr lang="en-US" altLang="ko-KR" sz="2000"/>
              <a:t>(</a:t>
            </a:r>
            <a:r>
              <a:rPr lang="ko-KR" altLang="en-US" sz="2000"/>
              <a:t>텍스트 로그</a:t>
            </a:r>
            <a:r>
              <a:rPr lang="en-US" altLang="ko-KR" sz="2000"/>
              <a:t>)</a:t>
            </a:r>
            <a:endParaRPr lang="en-US" altLang="ko-KR" sz="2000"/>
          </a:p>
          <a:p>
            <a:pPr marL="285600" lvl="0" indent="-285600">
              <a:buFont typeface="Arial"/>
              <a:buChar char="•"/>
              <a:defRPr/>
            </a:pPr>
            <a:r>
              <a:rPr lang="en-US" altLang="ko-KR" sz="2000"/>
              <a:t>eve.json (Json </a:t>
            </a:r>
            <a:r>
              <a:rPr lang="ko-KR" altLang="en-US" sz="2000"/>
              <a:t>로그</a:t>
            </a:r>
            <a:r>
              <a:rPr lang="en-US" altLang="ko-KR" sz="2000"/>
              <a:t>)</a:t>
            </a:r>
            <a:endParaRPr lang="en-US" altLang="ko-KR" sz="2000"/>
          </a:p>
        </p:txBody>
      </p:sp>
      <p:sp>
        <p:nvSpPr>
          <p:cNvPr id="89" name="가로 글상자 88"/>
          <p:cNvSpPr txBox="1"/>
          <p:nvPr/>
        </p:nvSpPr>
        <p:spPr>
          <a:xfrm>
            <a:off x="-381000" y="190500"/>
            <a:ext cx="253365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116" name="직사각형 115"/>
          <p:cNvSpPr/>
          <p:nvPr/>
        </p:nvSpPr>
        <p:spPr>
          <a:xfrm>
            <a:off x="15011400" y="5753100"/>
            <a:ext cx="2667000" cy="609600"/>
          </a:xfrm>
          <a:prstGeom prst="rect">
            <a:avLst/>
          </a:prstGeom>
          <a:solidFill>
            <a:srgbClr val="bfa10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7" name="가로 글상자 116"/>
          <p:cNvSpPr txBox="1"/>
          <p:nvPr/>
        </p:nvSpPr>
        <p:spPr>
          <a:xfrm>
            <a:off x="15238300" y="5897880"/>
            <a:ext cx="3015615" cy="38862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buFont typeface="Arial"/>
              <a:buNone/>
              <a:defRPr/>
            </a:pPr>
            <a:r>
              <a:rPr lang="ko-KR" altLang="en-US" sz="2000"/>
              <a:t>웹 대시보드 시각화</a:t>
            </a:r>
            <a:endParaRPr lang="ko-KR" altLang="en-US" sz="2000"/>
          </a:p>
        </p:txBody>
      </p:sp>
      <p:sp>
        <p:nvSpPr>
          <p:cNvPr id="122" name="오른쪽 화살표 121"/>
          <p:cNvSpPr/>
          <p:nvPr/>
        </p:nvSpPr>
        <p:spPr>
          <a:xfrm rot="19315">
            <a:off x="9981130" y="5982225"/>
            <a:ext cx="610039" cy="2263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3" name="오른쪽 화살표 122"/>
          <p:cNvSpPr/>
          <p:nvPr/>
        </p:nvSpPr>
        <p:spPr>
          <a:xfrm rot="19315">
            <a:off x="14172130" y="5982225"/>
            <a:ext cx="610039" cy="2263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24" name="가로 글상자 123"/>
          <p:cNvSpPr txBox="1"/>
          <p:nvPr/>
        </p:nvSpPr>
        <p:spPr>
          <a:xfrm>
            <a:off x="640080" y="8772525"/>
            <a:ext cx="7360920" cy="112776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Suricata는 IDS의 개념을 실제로 수행하는 오픈소스 엔진으로,</a:t>
            </a:r>
            <a:endParaRPr lang="ko-KR" altLang="en-US"/>
          </a:p>
          <a:p>
            <a:pPr lvl="0">
              <a:lnSpc>
                <a:spcPct val="40000"/>
              </a:lnSpc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네트워크 트래픽을 분석하고 룰에 일치하는 행위를 탐지(Alert)하여</a:t>
            </a:r>
            <a:endParaRPr lang="ko-KR" altLang="en-US"/>
          </a:p>
          <a:p>
            <a:pPr lvl="0">
              <a:lnSpc>
                <a:spcPct val="40000"/>
              </a:lnSpc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fast.log / eve.json 로그를 통해 결과를 기록 후 웹 대시보드에 시각화 한다</a:t>
            </a:r>
            <a:endParaRPr lang="ko-KR" altLang="en-US"/>
          </a:p>
        </p:txBody>
      </p:sp>
      <p:sp>
        <p:nvSpPr>
          <p:cNvPr id="125" name="가로 글상자 124"/>
          <p:cNvSpPr txBox="1"/>
          <p:nvPr/>
        </p:nvSpPr>
        <p:spPr>
          <a:xfrm>
            <a:off x="622935" y="8420100"/>
            <a:ext cx="920115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 요약 </a:t>
            </a:r>
            <a:r>
              <a:rPr lang="en-US" altLang="ko-KR"/>
              <a:t>]</a:t>
            </a:r>
            <a:endParaRPr lang="en-US" altLang="ko-KR"/>
          </a:p>
        </p:txBody>
      </p:sp>
      <p:pic>
        <p:nvPicPr>
          <p:cNvPr id="134" name="그림 13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138528">
            <a:off x="11902855" y="6724469"/>
            <a:ext cx="897637" cy="760619"/>
          </a:xfrm>
          <a:prstGeom prst="rect">
            <a:avLst/>
          </a:prstGeom>
        </p:spPr>
      </p:pic>
      <p:sp>
        <p:nvSpPr>
          <p:cNvPr id="135" name="가로 글상자 134"/>
          <p:cNvSpPr txBox="1"/>
          <p:nvPr/>
        </p:nvSpPr>
        <p:spPr>
          <a:xfrm>
            <a:off x="11471910" y="7602854"/>
            <a:ext cx="2135505" cy="38671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000"/>
              <a:t>여기까지가 목표</a:t>
            </a:r>
            <a:r>
              <a:rPr lang="en-US" altLang="ko-KR" sz="2000"/>
              <a:t>!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13664619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9" name="가로 글상자 18"/>
          <p:cNvSpPr txBox="1"/>
          <p:nvPr/>
        </p:nvSpPr>
        <p:spPr>
          <a:xfrm>
            <a:off x="762000" y="2705100"/>
            <a:ext cx="4853940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IDS</a:t>
            </a:r>
            <a:r>
              <a:rPr xmlns:mc="http://schemas.openxmlformats.org/markup-compatibility/2006" xmlns:hp="http://schemas.haansoft.com/office/presentation/8.0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가 설치될 환경을 최신 상태로 준비</a:t>
            </a:r>
            <a:endParaRPr lang="ko-KR" altLang="en-US" sz="2100" b="1">
              <a:latin typeface="맑은 고딕"/>
            </a:endParaRPr>
          </a:p>
        </p:txBody>
      </p:sp>
      <p:pic>
        <p:nvPicPr>
          <p:cNvPr id="20" name="그림 19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153160" y="3668839"/>
            <a:ext cx="7533640" cy="4446460"/>
          </a:xfrm>
          <a:prstGeom prst="rect">
            <a:avLst/>
          </a:prstGeom>
          <a:noFill/>
        </p:spPr>
      </p:pic>
      <p:pic>
        <p:nvPicPr>
          <p:cNvPr id="21" name="그림 20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9144000" y="3619500"/>
            <a:ext cx="7457440" cy="4572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가로 글상자 21"/>
          <p:cNvSpPr txBox="1"/>
          <p:nvPr/>
        </p:nvSpPr>
        <p:spPr>
          <a:xfrm>
            <a:off x="2537460" y="8122920"/>
            <a:ext cx="4853940" cy="50482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apt update &amp;&amp; sudo apt upgrade </a:t>
            </a:r>
            <a:r>
              <a:rPr xmlns:mc="http://schemas.openxmlformats.org/markup-compatibility/2006" xmlns:hp="http://schemas.haansoft.com/office/presentation/8.0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–</a:t>
            </a:r>
            <a:r>
              <a:rPr xmlns:mc="http://schemas.openxmlformats.org/markup-compatibility/2006" xmlns:hp="http://schemas.haansoft.com/office/presentation/8.0" lang="EN-US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y </a:t>
            </a:r>
            <a:endParaRPr lang="ko-KR" altLang="en-US" sz="1700" b="1"/>
          </a:p>
        </p:txBody>
      </p:sp>
      <p:sp>
        <p:nvSpPr>
          <p:cNvPr id="23" name="가로 글상자 22"/>
          <p:cNvSpPr txBox="1"/>
          <p:nvPr/>
        </p:nvSpPr>
        <p:spPr>
          <a:xfrm>
            <a:off x="9243060" y="8202930"/>
            <a:ext cx="7749540" cy="51054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apt install -y software-properties-common jq curl python3-pip</a:t>
            </a:r>
            <a:endParaRPr lang="ko-KR" altLang="en-US" sz="1700" b="1"/>
          </a:p>
        </p:txBody>
      </p:sp>
      <p:sp>
        <p:nvSpPr>
          <p:cNvPr id="26" name="직사각형 25"/>
          <p:cNvSpPr/>
          <p:nvPr/>
        </p:nvSpPr>
        <p:spPr>
          <a:xfrm>
            <a:off x="2667000" y="4762500"/>
            <a:ext cx="2590799" cy="152400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668000" y="4610100"/>
            <a:ext cx="4343400" cy="228600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8" name="가로 글상자 27"/>
          <p:cNvSpPr txBox="1"/>
          <p:nvPr/>
        </p:nvSpPr>
        <p:spPr>
          <a:xfrm>
            <a:off x="6400800" y="615315"/>
            <a:ext cx="8686800" cy="155448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Suricata</a:t>
            </a:r>
            <a:r>
              <a:rPr xmlns:mc="http://schemas.openxmlformats.org/markup-compatibility/2006" xmlns:hp="http://schemas.haansoft.com/office/presentation/8.0" lang="EN-US" sz="60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  <a:solidFill>
                  <a:srgbClr val="000000"/>
                </a:solidFill>
                <a:latin typeface="맑은 고딕"/>
              </a:rPr>
              <a:t>IDS</a:t>
            </a:r>
            <a:r>
              <a: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xmlns:mc="http://schemas.openxmlformats.org/markup-compatibility/2006" xmlns:hp="http://schemas.haansoft.com/office/presentation/8.0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설치</a:t>
            </a:r>
            <a:endParaRPr xmlns:mc="http://schemas.openxmlformats.org/markup-compatibility/2006" xmlns:hp="http://schemas.haansoft.com/office/presentation/8.0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가로 글상자 28"/>
          <p:cNvSpPr txBox="1"/>
          <p:nvPr/>
        </p:nvSpPr>
        <p:spPr>
          <a:xfrm>
            <a:off x="1981200" y="8122920"/>
            <a:ext cx="5996940" cy="50482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a</a:t>
            </a:r>
            <a:r>
              <a: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dd-apt-respository -y ppa:oisf/suricata-stable</a:t>
            </a:r>
            <a:endPara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</p:txBody>
      </p:sp>
      <p:sp>
        <p:nvSpPr>
          <p:cNvPr id="30" name="가로 글상자 29"/>
          <p:cNvSpPr txBox="1"/>
          <p:nvPr/>
        </p:nvSpPr>
        <p:spPr>
          <a:xfrm>
            <a:off x="9166860" y="8138160"/>
            <a:ext cx="7749540" cy="51054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apt install -y software-properties-common jq curl python3-pip</a:t>
            </a:r>
            <a:endParaRPr lang="ko-KR" altLang="en-US" sz="1700" b="1"/>
          </a:p>
        </p:txBody>
      </p:sp>
      <p:pic>
        <p:nvPicPr>
          <p:cNvPr id="31" name="그림 30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1153160" y="3637153"/>
            <a:ext cx="7533640" cy="447814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972026" y="3628888"/>
            <a:ext cx="6941474" cy="1814649"/>
          </a:xfrm>
          <a:prstGeom prst="rect">
            <a:avLst/>
          </a:prstGeom>
        </p:spPr>
      </p:pic>
      <p:sp>
        <p:nvSpPr>
          <p:cNvPr id="33" name="가로 글상자 32"/>
          <p:cNvSpPr txBox="1"/>
          <p:nvPr/>
        </p:nvSpPr>
        <p:spPr>
          <a:xfrm>
            <a:off x="11430000" y="5476875"/>
            <a:ext cx="1905000" cy="50482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</a:t>
            </a:r>
            <a:r>
              <a: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apt update</a:t>
            </a:r>
            <a:endPara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019030" y="6134100"/>
            <a:ext cx="8202170" cy="1981200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2743201" y="4152900"/>
            <a:ext cx="3200399" cy="228600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10591800" y="3619500"/>
            <a:ext cx="1447800" cy="228600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10744200" y="6134100"/>
            <a:ext cx="3200399" cy="304800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0" name="가로 글상자 39"/>
          <p:cNvSpPr txBox="1"/>
          <p:nvPr/>
        </p:nvSpPr>
        <p:spPr>
          <a:xfrm>
            <a:off x="761996" y="2705100"/>
            <a:ext cx="5063494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오픈 소스 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IDS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인 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를 서버에 설치</a:t>
            </a:r>
            <a:endPara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42" name="가로 글상자 41"/>
          <p:cNvSpPr txBox="1"/>
          <p:nvPr/>
        </p:nvSpPr>
        <p:spPr>
          <a:xfrm>
            <a:off x="6400800" y="615315"/>
            <a:ext cx="8686800" cy="155448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Suricata</a:t>
            </a:r>
            <a:r>
              <a:rPr xmlns:mc="http://schemas.openxmlformats.org/markup-compatibility/2006" xmlns:hp="http://schemas.haansoft.com/office/presentation/8.0" lang="EN-US" sz="60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  <a:solidFill>
                  <a:srgbClr val="000000"/>
                </a:solidFill>
                <a:latin typeface="맑은 고딕"/>
              </a:rPr>
              <a:t>IDS</a:t>
            </a:r>
            <a:r>
              <a: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 </a:t>
            </a:r>
            <a:r>
              <a:rPr xmlns:mc="http://schemas.openxmlformats.org/markup-compatibility/2006" xmlns:hp="http://schemas.haansoft.com/office/presentation/8.0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설치</a:t>
            </a:r>
            <a:endParaRPr xmlns:mc="http://schemas.openxmlformats.org/markup-compatibility/2006" xmlns:hp="http://schemas.haansoft.com/office/presentation/8.0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</p:spTree>
    <p:extLst>
      <p:ext uri="{BB962C8B-B14F-4D97-AF65-F5344CB8AC3E}">
        <p14:creationId xmlns:p14="http://schemas.microsoft.com/office/powerpoint/2010/main" val="3254715324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4457700" y="693419"/>
            <a:ext cx="9372600" cy="155448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네트워크 인터페이스 설정 </a:t>
            </a:r>
            <a:endPara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24" name="가로 글상자 23"/>
          <p:cNvSpPr txBox="1"/>
          <p:nvPr/>
        </p:nvSpPr>
        <p:spPr>
          <a:xfrm>
            <a:off x="761995" y="2705100"/>
            <a:ext cx="10121270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Suricata가 감시할 네트워크 인터페이스 지정 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(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서버와 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를 연결시키는 과정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)</a:t>
            </a:r>
            <a:endPara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32" name="그림 31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848359" y="3619500"/>
            <a:ext cx="6619240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3" name="가로 글상자 32"/>
          <p:cNvSpPr txBox="1"/>
          <p:nvPr/>
        </p:nvSpPr>
        <p:spPr>
          <a:xfrm>
            <a:off x="1318259" y="4410075"/>
            <a:ext cx="5996940" cy="50482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ip -o -4 route show to default | awk '{print $5}'</a:t>
            </a:r>
            <a:endPara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</p:txBody>
      </p:sp>
      <p:sp>
        <p:nvSpPr>
          <p:cNvPr id="35" name="오른쪽 화살표 34"/>
          <p:cNvSpPr/>
          <p:nvPr/>
        </p:nvSpPr>
        <p:spPr>
          <a:xfrm rot="10778217">
            <a:off x="7696676" y="4001944"/>
            <a:ext cx="456246" cy="1519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838200" y="3848100"/>
            <a:ext cx="457199" cy="304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895600" y="3657600"/>
            <a:ext cx="4495799" cy="266700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8" name="가로 글상자 37"/>
          <p:cNvSpPr txBox="1"/>
          <p:nvPr/>
        </p:nvSpPr>
        <p:spPr>
          <a:xfrm>
            <a:off x="1524000" y="9663939"/>
            <a:ext cx="4495800" cy="508761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nano /etc/suricata/suricata.yaml</a:t>
            </a:r>
            <a:endParaRPr xmlns:mc="http://schemas.openxmlformats.org/markup-compatibility/2006" xmlns:hp="http://schemas.haansoft.com/office/presentation/8.0" lang="en-US" altLang="ko-KR" sz="1700" b="1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</p:txBody>
      </p:sp>
      <p:sp>
        <p:nvSpPr>
          <p:cNvPr id="40" name="가로 글상자 39"/>
          <p:cNvSpPr txBox="1"/>
          <p:nvPr/>
        </p:nvSpPr>
        <p:spPr>
          <a:xfrm>
            <a:off x="8242934" y="3869055"/>
            <a:ext cx="5535930" cy="70104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000"/>
              <a:t>서버의 인터페이스를 확인해줌</a:t>
            </a:r>
            <a:r>
              <a:rPr lang="en-US" altLang="ko-KR" sz="2000"/>
              <a:t>!</a:t>
            </a:r>
            <a:endParaRPr lang="en-US" altLang="ko-KR" sz="2000"/>
          </a:p>
          <a:p>
            <a:pPr lvl="0">
              <a:defRPr/>
            </a:pPr>
            <a:r>
              <a:rPr lang="en-US" altLang="ko-KR" sz="2000"/>
              <a:t>-&gt;</a:t>
            </a:r>
            <a:r>
              <a:rPr lang="ko-KR" altLang="en-US" sz="2000"/>
              <a:t> </a:t>
            </a:r>
            <a:r>
              <a:rPr lang="en-US" altLang="ko-KR" sz="2000"/>
              <a:t>ens5 (</a:t>
            </a:r>
            <a:r>
              <a:rPr lang="ko-KR" altLang="en-US" sz="2000"/>
              <a:t> </a:t>
            </a:r>
            <a:r>
              <a:rPr lang="en-US" altLang="ko-KR" sz="2000"/>
              <a:t>AWS</a:t>
            </a:r>
            <a:r>
              <a:rPr lang="ko-KR" altLang="en-US" sz="2000"/>
              <a:t> 서버의</a:t>
            </a:r>
            <a:r>
              <a:rPr lang="en-US" altLang="ko-KR" sz="2000"/>
              <a:t> </a:t>
            </a:r>
            <a:r>
              <a:rPr lang="ko-KR" altLang="en-US" sz="2000"/>
              <a:t>기본 인터페이스는  </a:t>
            </a:r>
            <a:r>
              <a:rPr lang="en-US" altLang="ko-KR" sz="2000"/>
              <a:t>ens5</a:t>
            </a:r>
            <a:r>
              <a:rPr lang="ko-KR" altLang="en-US" sz="2000"/>
              <a:t>임</a:t>
            </a:r>
            <a:r>
              <a:rPr lang="en-US" altLang="ko-KR" sz="2000"/>
              <a:t>)</a:t>
            </a:r>
            <a:endParaRPr lang="en-US" altLang="ko-KR" sz="2000"/>
          </a:p>
        </p:txBody>
      </p:sp>
      <p:sp>
        <p:nvSpPr>
          <p:cNvPr id="60" name="가로 글상자 59"/>
          <p:cNvSpPr txBox="1"/>
          <p:nvPr/>
        </p:nvSpPr>
        <p:spPr>
          <a:xfrm>
            <a:off x="7543801" y="5313476"/>
            <a:ext cx="2663189" cy="36342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Suricata </a:t>
            </a:r>
            <a:r>
              <a:rPr lang="ko-KR" altLang="en-US"/>
              <a:t>인터페이스 변경</a:t>
            </a:r>
            <a:endParaRPr lang="ko-KR" altLang="en-US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593706" y="6847383"/>
            <a:ext cx="3836294" cy="753350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10064" y="5739037"/>
            <a:ext cx="3819936" cy="803546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22203">
            <a:off x="6855375" y="6434881"/>
            <a:ext cx="610261" cy="610261"/>
          </a:xfrm>
          <a:prstGeom prst="rect">
            <a:avLst/>
          </a:prstGeom>
        </p:spPr>
      </p:pic>
      <p:sp>
        <p:nvSpPr>
          <p:cNvPr id="70" name="직사각형 69"/>
          <p:cNvSpPr/>
          <p:nvPr/>
        </p:nvSpPr>
        <p:spPr>
          <a:xfrm>
            <a:off x="9144001" y="6196237"/>
            <a:ext cx="533400" cy="346346"/>
          </a:xfrm>
          <a:prstGeom prst="rect">
            <a:avLst/>
          </a:prstGeom>
          <a:noFill/>
          <a:ln w="4445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8991601" y="7231083"/>
            <a:ext cx="533400" cy="346346"/>
          </a:xfrm>
          <a:prstGeom prst="rect">
            <a:avLst/>
          </a:prstGeom>
          <a:noFill/>
          <a:ln w="4445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619998" y="8379583"/>
            <a:ext cx="5487466" cy="912828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1353798" y="8455783"/>
            <a:ext cx="0" cy="0"/>
          </a:xfrm>
          <a:prstGeom prst="rect">
            <a:avLst/>
          </a:prstGeom>
        </p:spPr>
      </p:pic>
      <p:sp>
        <p:nvSpPr>
          <p:cNvPr id="81" name="가로 글상자 80"/>
          <p:cNvSpPr txBox="1"/>
          <p:nvPr/>
        </p:nvSpPr>
        <p:spPr>
          <a:xfrm>
            <a:off x="7467598" y="7993083"/>
            <a:ext cx="6187440" cy="3655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HOME_NET 설정 확인</a:t>
            </a:r>
            <a:r>
              <a:rPr lang="en-US" altLang="ko-KR"/>
              <a:t> - </a:t>
            </a:r>
            <a:r>
              <a:rPr lang="ko-KR" altLang="en-US"/>
              <a:t> 내부 네트워크로 인식할 </a:t>
            </a:r>
            <a:r>
              <a:rPr lang="en-US" altLang="ko-KR"/>
              <a:t>IP</a:t>
            </a:r>
            <a:r>
              <a:rPr lang="ko-KR" altLang="en-US"/>
              <a:t> 대역 지정</a:t>
            </a:r>
            <a:endParaRPr lang="ko-KR" altLang="en-US"/>
          </a:p>
        </p:txBody>
      </p:sp>
      <p:sp>
        <p:nvSpPr>
          <p:cNvPr id="82" name="직사각형 81"/>
          <p:cNvSpPr/>
          <p:nvPr/>
        </p:nvSpPr>
        <p:spPr>
          <a:xfrm>
            <a:off x="10854688" y="8898926"/>
            <a:ext cx="1219200" cy="266700"/>
          </a:xfrm>
          <a:prstGeom prst="rect">
            <a:avLst/>
          </a:prstGeom>
          <a:noFill/>
          <a:ln w="4445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3" name="가로 글상자 82"/>
          <p:cNvSpPr txBox="1"/>
          <p:nvPr/>
        </p:nvSpPr>
        <p:spPr>
          <a:xfrm>
            <a:off x="11241404" y="9403080"/>
            <a:ext cx="3998596" cy="3886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000"/>
              <a:t>ㄴ</a:t>
            </a:r>
            <a:r>
              <a:rPr lang="en-US" altLang="ko-KR" sz="2000"/>
              <a:t>&gt;</a:t>
            </a:r>
            <a:r>
              <a:rPr lang="ko-KR" altLang="en-US" sz="2000"/>
              <a:t> </a:t>
            </a:r>
            <a:r>
              <a:rPr lang="en-US" altLang="ko-KR" sz="2000"/>
              <a:t>ip-172-31-41-68</a:t>
            </a:r>
            <a:r>
              <a:rPr lang="ko-KR" altLang="en-US" sz="2000"/>
              <a:t> </a:t>
            </a:r>
            <a:r>
              <a:rPr lang="en-US" altLang="ko-KR" sz="2000"/>
              <a:t>(</a:t>
            </a:r>
            <a:r>
              <a:rPr lang="ko-KR" altLang="en-US"/>
              <a:t>프라이빗</a:t>
            </a:r>
            <a:r>
              <a:rPr lang="ko-KR" altLang="en-US" sz="2000"/>
              <a:t> </a:t>
            </a:r>
            <a:r>
              <a:rPr lang="en-US" altLang="ko-KR" sz="2000"/>
              <a:t>IP) ok</a:t>
            </a:r>
            <a:endParaRPr lang="en-US" altLang="ko-KR" sz="2000"/>
          </a:p>
        </p:txBody>
      </p:sp>
      <p:pic>
        <p:nvPicPr>
          <p:cNvPr id="92" name="그림 91"/>
          <p:cNvPicPr/>
          <p:nvPr/>
        </p:nvPicPr>
        <p:blipFill rotWithShape="1">
          <a:blip r:embed="rId9"/>
          <a:stretch>
            <a:fillRect/>
          </a:stretch>
        </p:blipFill>
        <p:spPr>
          <a:xfrm>
            <a:off x="12573000" y="6316980"/>
            <a:ext cx="502920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3" name="가로 글상자 92"/>
          <p:cNvSpPr txBox="1"/>
          <p:nvPr/>
        </p:nvSpPr>
        <p:spPr>
          <a:xfrm>
            <a:off x="13418820" y="6890385"/>
            <a:ext cx="3040380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sudo systemctl restart suricata</a:t>
            </a:r>
            <a:endParaRPr lang="en-US" altLang="ko-KR"/>
          </a:p>
        </p:txBody>
      </p:sp>
      <p:sp>
        <p:nvSpPr>
          <p:cNvPr id="94" name="가로 글상자 93"/>
          <p:cNvSpPr txBox="1"/>
          <p:nvPr/>
        </p:nvSpPr>
        <p:spPr>
          <a:xfrm>
            <a:off x="12496800" y="5918835"/>
            <a:ext cx="1748790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재시작  </a:t>
            </a:r>
            <a:r>
              <a:rPr lang="en-US" altLang="ko-KR"/>
              <a:t>-&gt;</a:t>
            </a:r>
            <a:r>
              <a:rPr lang="ko-KR" altLang="en-US"/>
              <a:t>  완료</a:t>
            </a:r>
            <a:endParaRPr lang="ko-KR" altLang="en-US"/>
          </a:p>
        </p:txBody>
      </p:sp>
      <p:sp>
        <p:nvSpPr>
          <p:cNvPr id="95" name="직사각형 94"/>
          <p:cNvSpPr/>
          <p:nvPr/>
        </p:nvSpPr>
        <p:spPr>
          <a:xfrm>
            <a:off x="14554200" y="6286500"/>
            <a:ext cx="2895600" cy="266700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143000" y="5503545"/>
            <a:ext cx="5401429" cy="4135755"/>
          </a:xfrm>
          <a:prstGeom prst="rect">
            <a:avLst/>
          </a:prstGeom>
        </p:spPr>
      </p:pic>
      <p:sp>
        <p:nvSpPr>
          <p:cNvPr id="98" name="가로 글상자 97"/>
          <p:cNvSpPr txBox="1"/>
          <p:nvPr/>
        </p:nvSpPr>
        <p:spPr>
          <a:xfrm>
            <a:off x="2514600" y="5143500"/>
            <a:ext cx="2482215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&lt;Suricata</a:t>
            </a:r>
            <a:r>
              <a:rPr lang="ko-KR" altLang="en-US"/>
              <a:t> 설정 편집 창</a:t>
            </a:r>
            <a:r>
              <a:rPr lang="en-US" altLang="ko-KR"/>
              <a:t>&gt;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5864421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3724275" y="697230"/>
            <a:ext cx="108394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사용자</a:t>
            </a:r>
            <a:r>
              <a: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/</a:t>
            </a: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그룹 생성 및 권한 설정 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53" name="가로 글상자 52"/>
          <p:cNvSpPr txBox="1"/>
          <p:nvPr/>
        </p:nvSpPr>
        <p:spPr>
          <a:xfrm>
            <a:off x="761995" y="2705100"/>
            <a:ext cx="6054095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최소 권한을 부여한 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용 사용자 그룹 생성</a:t>
            </a:r>
            <a:endPara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54" name="가로 글상자 53"/>
          <p:cNvSpPr txBox="1"/>
          <p:nvPr/>
        </p:nvSpPr>
        <p:spPr>
          <a:xfrm>
            <a:off x="3575677" y="3560445"/>
            <a:ext cx="10673722" cy="36385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Suricata</a:t>
            </a:r>
            <a:r>
              <a:rPr lang="ko-KR" altLang="en-US"/>
              <a:t>는 네트워크 패킷을 읽고 감시하는 프로그램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But  </a:t>
            </a:r>
            <a:r>
              <a:rPr lang="ko-KR" altLang="en-US"/>
              <a:t>패킷을</a:t>
            </a:r>
            <a:r>
              <a:rPr lang="en-US" altLang="ko-KR"/>
              <a:t> </a:t>
            </a:r>
            <a:r>
              <a:rPr lang="ko-KR" altLang="en-US"/>
              <a:t>직접 감시하려면 관리자</a:t>
            </a:r>
            <a:r>
              <a:rPr lang="en-US" altLang="ko-KR"/>
              <a:t>(root)</a:t>
            </a:r>
            <a:r>
              <a:rPr lang="ko-KR" altLang="en-US"/>
              <a:t>권한 필요</a:t>
            </a:r>
            <a:endParaRPr lang="ko-KR" altLang="en-US"/>
          </a:p>
        </p:txBody>
      </p:sp>
      <p:sp>
        <p:nvSpPr>
          <p:cNvPr id="55" name="오른쪽 화살표 54"/>
          <p:cNvSpPr/>
          <p:nvPr/>
        </p:nvSpPr>
        <p:spPr>
          <a:xfrm rot="5379794">
            <a:off x="8670194" y="4213932"/>
            <a:ext cx="335983" cy="15245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7" name="가로 글상자 56"/>
          <p:cNvSpPr txBox="1"/>
          <p:nvPr/>
        </p:nvSpPr>
        <p:spPr>
          <a:xfrm>
            <a:off x="5943600" y="4610100"/>
            <a:ext cx="6248400" cy="63893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시스템 변경 권한이 없는 Suricata 전용 최소 권한 계정 생성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                               </a:t>
            </a:r>
            <a:r>
              <a:rPr lang="en-US" altLang="ko-KR"/>
              <a:t>(</a:t>
            </a:r>
            <a:r>
              <a:rPr lang="ko-KR" altLang="en-US"/>
              <a:t>패킷 읽기 및 감시만 허용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3400" y="5991181"/>
            <a:ext cx="6462169" cy="371518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3796" y="7353300"/>
            <a:ext cx="10783805" cy="304800"/>
          </a:xfrm>
          <a:prstGeom prst="rect">
            <a:avLst/>
          </a:prstGeom>
        </p:spPr>
      </p:pic>
      <p:sp>
        <p:nvSpPr>
          <p:cNvPr id="61" name="가로 글상자 60"/>
          <p:cNvSpPr txBox="1"/>
          <p:nvPr/>
        </p:nvSpPr>
        <p:spPr>
          <a:xfrm>
            <a:off x="457200" y="6292215"/>
            <a:ext cx="5791200" cy="52768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groupadd </a:t>
            </a:r>
            <a:r>
              <a:rPr xmlns:mc="http://schemas.openxmlformats.org/markup-compatibility/2006" xmlns:hp="http://schemas.haansoft.com/office/presentation/8.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—</a:t>
            </a: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system suricata</a:t>
            </a:r>
            <a:endParaRPr lang="ko-KR" altLang="en-US"/>
          </a:p>
        </p:txBody>
      </p:sp>
      <p:sp>
        <p:nvSpPr>
          <p:cNvPr id="62" name="가로 글상자 61"/>
          <p:cNvSpPr txBox="1"/>
          <p:nvPr/>
        </p:nvSpPr>
        <p:spPr>
          <a:xfrm>
            <a:off x="457200" y="7734300"/>
            <a:ext cx="8330565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sudo useradd --system --no-create-home --gid suricata --shell /usr/sbin/nologin suricata</a:t>
            </a:r>
            <a:endParaRPr lang="en-US" altLang="ko-KR"/>
          </a:p>
        </p:txBody>
      </p:sp>
      <p:sp>
        <p:nvSpPr>
          <p:cNvPr id="63" name="가로 글상자 62"/>
          <p:cNvSpPr txBox="1"/>
          <p:nvPr/>
        </p:nvSpPr>
        <p:spPr>
          <a:xfrm>
            <a:off x="457200" y="5676900"/>
            <a:ext cx="1186815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그룹 생성</a:t>
            </a:r>
            <a:endParaRPr lang="ko-KR" altLang="en-US"/>
          </a:p>
        </p:txBody>
      </p:sp>
      <p:sp>
        <p:nvSpPr>
          <p:cNvPr id="64" name="가로 글상자 63"/>
          <p:cNvSpPr txBox="1"/>
          <p:nvPr/>
        </p:nvSpPr>
        <p:spPr>
          <a:xfrm>
            <a:off x="457200" y="6972300"/>
            <a:ext cx="1459231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사용자 생성 </a:t>
            </a:r>
            <a:endParaRPr lang="ko-KR" altLang="en-US"/>
          </a:p>
        </p:txBody>
      </p:sp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33400" y="8648700"/>
            <a:ext cx="4582164" cy="590632"/>
          </a:xfrm>
          <a:prstGeom prst="rect">
            <a:avLst/>
          </a:prstGeom>
        </p:spPr>
      </p:pic>
      <p:sp>
        <p:nvSpPr>
          <p:cNvPr id="72" name="가로 글상자 71"/>
          <p:cNvSpPr txBox="1"/>
          <p:nvPr/>
        </p:nvSpPr>
        <p:spPr>
          <a:xfrm>
            <a:off x="457200" y="8267700"/>
            <a:ext cx="2564135" cy="36766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사용자</a:t>
            </a:r>
            <a:r>
              <a:rPr lang="en-US" altLang="ko-KR"/>
              <a:t>/</a:t>
            </a:r>
            <a:r>
              <a:rPr lang="ko-KR" altLang="en-US"/>
              <a:t> 그룹 생성 확인 </a:t>
            </a:r>
            <a:endParaRPr lang="ko-KR" altLang="en-US"/>
          </a:p>
        </p:txBody>
      </p:sp>
      <p:sp>
        <p:nvSpPr>
          <p:cNvPr id="73" name="가로 글상자 72"/>
          <p:cNvSpPr txBox="1"/>
          <p:nvPr/>
        </p:nvSpPr>
        <p:spPr>
          <a:xfrm>
            <a:off x="1981200" y="9182100"/>
            <a:ext cx="1371600" cy="527728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id suricata</a:t>
            </a:r>
            <a:endParaRPr xmlns:mc="http://schemas.openxmlformats.org/markup-compatibility/2006" xmlns:hp="http://schemas.haansoft.com/office/presentation/8.0" lang="en-US" altLang="ko-KR" b="1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</a:endParaRPr>
          </a:p>
        </p:txBody>
      </p:sp>
      <p:sp>
        <p:nvSpPr>
          <p:cNvPr id="74" name="오른쪽 화살표 73"/>
          <p:cNvSpPr/>
          <p:nvPr/>
        </p:nvSpPr>
        <p:spPr>
          <a:xfrm rot="35648">
            <a:off x="5257584" y="8702236"/>
            <a:ext cx="456246" cy="2279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c3b00"/>
          </a:solidFill>
          <a:ln>
            <a:solidFill>
              <a:srgbClr val="9c3b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5" name="가로 글상자 74"/>
          <p:cNvSpPr txBox="1"/>
          <p:nvPr/>
        </p:nvSpPr>
        <p:spPr>
          <a:xfrm>
            <a:off x="5715000" y="8648700"/>
            <a:ext cx="5334000" cy="37718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900" b="1">
                <a:solidFill>
                  <a:schemeClr val="dk1"/>
                </a:solidFill>
              </a:rPr>
              <a:t>uid =999(suricata) gid=988(suricata) groups = 988</a:t>
            </a:r>
            <a:endParaRPr lang="en-US" altLang="ko-KR" sz="1900" b="1">
              <a:solidFill>
                <a:schemeClr val="dk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533400" y="8877300"/>
            <a:ext cx="4419600" cy="228600"/>
          </a:xfrm>
          <a:prstGeom prst="rect">
            <a:avLst/>
          </a:prstGeom>
          <a:noFill/>
          <a:ln w="4445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7" name="가로 글상자 76"/>
          <p:cNvSpPr txBox="1"/>
          <p:nvPr/>
        </p:nvSpPr>
        <p:spPr>
          <a:xfrm>
            <a:off x="5737860" y="9008745"/>
            <a:ext cx="4396740" cy="86677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1500">
                <a:solidFill>
                  <a:schemeClr val="dk1"/>
                </a:solidFill>
              </a:rPr>
              <a:t>-</a:t>
            </a:r>
            <a:r>
              <a:rPr lang="ko-KR" altLang="en-US" sz="1500">
                <a:solidFill>
                  <a:schemeClr val="dk1"/>
                </a:solidFill>
              </a:rPr>
              <a:t> </a:t>
            </a:r>
            <a:r>
              <a:rPr lang="en-US" altLang="ko-KR" sz="1500">
                <a:solidFill>
                  <a:schemeClr val="dk1"/>
                </a:solidFill>
              </a:rPr>
              <a:t>uid =999(suricata): </a:t>
            </a:r>
            <a:r>
              <a:rPr lang="ko-KR" altLang="en-US" sz="1500">
                <a:solidFill>
                  <a:schemeClr val="dk1"/>
                </a:solidFill>
              </a:rPr>
              <a:t>사용자 고유  </a:t>
            </a:r>
            <a:r>
              <a:rPr lang="en-US" altLang="ko-KR" sz="1500">
                <a:solidFill>
                  <a:schemeClr val="dk1"/>
                </a:solidFill>
              </a:rPr>
              <a:t>ID</a:t>
            </a:r>
            <a:endParaRPr lang="en-US" altLang="ko-KR" sz="1500">
              <a:solidFill>
                <a:schemeClr val="dk1"/>
              </a:solidFill>
            </a:endParaRPr>
          </a:p>
          <a:p>
            <a:pPr lvl="0">
              <a:lnSpc>
                <a:spcPct val="20000"/>
              </a:lnSpc>
              <a:defRPr/>
            </a:pPr>
            <a:r>
              <a:rPr lang="ko-KR" altLang="en-US" sz="1500">
                <a:solidFill>
                  <a:schemeClr val="dk1"/>
                </a:solidFill>
              </a:rPr>
              <a:t> </a:t>
            </a:r>
            <a:endParaRPr lang="ko-KR" altLang="en-US" sz="1500">
              <a:solidFill>
                <a:schemeClr val="dk1"/>
              </a:solidFill>
            </a:endParaRPr>
          </a:p>
          <a:p>
            <a:pPr lvl="0">
              <a:defRPr/>
            </a:pPr>
            <a:r>
              <a:rPr lang="en-US" altLang="ko-KR" sz="1500">
                <a:solidFill>
                  <a:schemeClr val="dk1"/>
                </a:solidFill>
              </a:rPr>
              <a:t>-</a:t>
            </a:r>
            <a:r>
              <a:rPr lang="ko-KR" altLang="en-US" sz="1500">
                <a:solidFill>
                  <a:schemeClr val="dk1"/>
                </a:solidFill>
              </a:rPr>
              <a:t> </a:t>
            </a:r>
            <a:r>
              <a:rPr lang="en-US" altLang="ko-KR" sz="1500">
                <a:solidFill>
                  <a:schemeClr val="dk1"/>
                </a:solidFill>
              </a:rPr>
              <a:t>gid = 988 (Suricata): </a:t>
            </a:r>
            <a:r>
              <a:rPr lang="ko-KR" altLang="en-US" sz="1500">
                <a:solidFill>
                  <a:schemeClr val="dk1"/>
                </a:solidFill>
              </a:rPr>
              <a:t>그룹 고유 </a:t>
            </a:r>
            <a:r>
              <a:rPr lang="en-US" altLang="ko-KR" sz="1500">
                <a:solidFill>
                  <a:schemeClr val="dk1"/>
                </a:solidFill>
              </a:rPr>
              <a:t>ID  </a:t>
            </a:r>
            <a:endParaRPr lang="en-US" altLang="ko-KR" sz="1500">
              <a:solidFill>
                <a:schemeClr val="dk1"/>
              </a:solidFill>
            </a:endParaRPr>
          </a:p>
          <a:p>
            <a:pPr lvl="0">
              <a:lnSpc>
                <a:spcPct val="20000"/>
              </a:lnSpc>
              <a:defRPr/>
            </a:pPr>
            <a:endParaRPr lang="en-US" altLang="ko-KR" sz="1500">
              <a:solidFill>
                <a:schemeClr val="dk1"/>
              </a:solidFill>
            </a:endParaRPr>
          </a:p>
          <a:p>
            <a:pPr lvl="0">
              <a:defRPr/>
            </a:pPr>
            <a:r>
              <a:rPr lang="en-US" altLang="ko-KR" sz="1500">
                <a:solidFill>
                  <a:schemeClr val="dk1"/>
                </a:solidFill>
              </a:rPr>
              <a:t>-</a:t>
            </a:r>
            <a:r>
              <a:rPr lang="ko-KR" altLang="en-US" sz="1500">
                <a:solidFill>
                  <a:schemeClr val="dk1"/>
                </a:solidFill>
              </a:rPr>
              <a:t> </a:t>
            </a:r>
            <a:r>
              <a:rPr lang="en-US" altLang="ko-KR" sz="1500">
                <a:solidFill>
                  <a:schemeClr val="dk1"/>
                </a:solidFill>
              </a:rPr>
              <a:t>groups = 988: </a:t>
            </a:r>
            <a:r>
              <a:rPr lang="ko-KR" altLang="en-US" sz="1500">
                <a:solidFill>
                  <a:schemeClr val="dk1"/>
                </a:solidFill>
              </a:rPr>
              <a:t>소속 그룹 목록 </a:t>
            </a:r>
            <a:r>
              <a:rPr lang="en-US" altLang="ko-KR" sz="1500">
                <a:solidFill>
                  <a:schemeClr val="dk1"/>
                </a:solidFill>
              </a:rPr>
              <a:t>(</a:t>
            </a:r>
            <a:r>
              <a:rPr lang="ko-KR" altLang="en-US" sz="1500">
                <a:solidFill>
                  <a:schemeClr val="dk1"/>
                </a:solidFill>
              </a:rPr>
              <a:t> </a:t>
            </a:r>
            <a:r>
              <a:rPr lang="en-US" altLang="ko-KR" sz="1500">
                <a:solidFill>
                  <a:schemeClr val="dk1"/>
                </a:solidFill>
              </a:rPr>
              <a:t>988</a:t>
            </a:r>
            <a:r>
              <a:rPr lang="ko-KR" altLang="en-US" sz="1500">
                <a:solidFill>
                  <a:schemeClr val="dk1"/>
                </a:solidFill>
              </a:rPr>
              <a:t> 그룹 하나 있음</a:t>
            </a:r>
            <a:r>
              <a:rPr lang="en-US" altLang="ko-KR" sz="1500">
                <a:solidFill>
                  <a:schemeClr val="dk1"/>
                </a:solidFill>
              </a:rPr>
              <a:t>)</a:t>
            </a:r>
            <a:endParaRPr lang="en-US" altLang="ko-KR" sz="1500">
              <a:solidFill>
                <a:schemeClr val="dk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2039600" y="5829300"/>
            <a:ext cx="5410200" cy="2971800"/>
          </a:xfrm>
          <a:prstGeom prst="rect">
            <a:avLst/>
          </a:prstGeom>
          <a:solidFill>
            <a:srgbClr val="bfbfb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1" name="가로 글상자 80"/>
          <p:cNvSpPr txBox="1"/>
          <p:nvPr/>
        </p:nvSpPr>
        <p:spPr>
          <a:xfrm>
            <a:off x="12268200" y="6057900"/>
            <a:ext cx="5605742" cy="23126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700"/>
              <a:t>                              </a:t>
            </a:r>
            <a:r>
              <a:rPr lang="en-US" altLang="ko-KR" sz="1700"/>
              <a:t>  </a:t>
            </a:r>
            <a:r>
              <a:rPr lang="ko-KR" altLang="en-US" sz="1700"/>
              <a:t>   </a:t>
            </a:r>
            <a:r>
              <a:rPr lang="en-US" altLang="ko-KR" sz="1700"/>
              <a:t>&lt; </a:t>
            </a:r>
            <a:r>
              <a:rPr lang="ko-KR" altLang="en-US" sz="1700"/>
              <a:t>옵션 설명 </a:t>
            </a:r>
            <a:r>
              <a:rPr lang="en-US" altLang="ko-KR" sz="1700"/>
              <a:t>&gt;</a:t>
            </a:r>
            <a:endParaRPr lang="en-US" altLang="ko-KR" sz="1700"/>
          </a:p>
          <a:p>
            <a:pPr lvl="0">
              <a:defRPr/>
            </a:pPr>
            <a:endParaRPr lang="ko-KR" altLang="ko-KR" sz="1700"/>
          </a:p>
          <a:p>
            <a:pPr lvl="0">
              <a:defRPr/>
            </a:pPr>
            <a:r>
              <a:rPr lang="ko-KR" altLang="ko-KR" sz="1700" b="1"/>
              <a:t>--system</a:t>
            </a:r>
            <a:r>
              <a:rPr lang="ko-KR" altLang="ko-KR" sz="1700"/>
              <a:t>: 시스템</a:t>
            </a:r>
            <a:r>
              <a:rPr lang="ko-KR" altLang="en-US" sz="1700"/>
              <a:t>용</a:t>
            </a:r>
            <a:r>
              <a:rPr lang="ko-KR" altLang="ko-KR" sz="1700"/>
              <a:t> 계정</a:t>
            </a:r>
            <a:r>
              <a:rPr lang="ko-KR" altLang="en-US" sz="1700"/>
              <a:t> </a:t>
            </a:r>
            <a:r>
              <a:rPr lang="en-US" altLang="ko-KR" sz="1700"/>
              <a:t>(</a:t>
            </a:r>
            <a:r>
              <a:rPr lang="ko-KR" altLang="en-US" sz="1700"/>
              <a:t>일반 사용자 계정 </a:t>
            </a:r>
            <a:r>
              <a:rPr lang="en-US" altLang="ko-KR" sz="1700"/>
              <a:t>X)</a:t>
            </a:r>
            <a:endParaRPr lang="ko-KR" altLang="en-US" sz="1700"/>
          </a:p>
          <a:p>
            <a:pPr lvl="0">
              <a:lnSpc>
                <a:spcPct val="30000"/>
              </a:lnSpc>
              <a:defRPr/>
            </a:pPr>
            <a:endParaRPr lang="ko-KR" altLang="ko-KR" sz="1700"/>
          </a:p>
          <a:p>
            <a:pPr lvl="0">
              <a:defRPr/>
            </a:pPr>
            <a:r>
              <a:rPr lang="ko-KR" altLang="ko-KR" sz="1700" b="1"/>
              <a:t>--no-create-home</a:t>
            </a:r>
            <a:r>
              <a:rPr lang="ko-KR" altLang="ko-KR" sz="1700"/>
              <a:t>: 홈 디렉토리 만들지 않음</a:t>
            </a:r>
            <a:endParaRPr lang="ko-KR" altLang="ko-KR" sz="1700"/>
          </a:p>
          <a:p>
            <a:pPr lvl="0">
              <a:lnSpc>
                <a:spcPct val="30000"/>
              </a:lnSpc>
              <a:defRPr/>
            </a:pPr>
            <a:endParaRPr lang="ko-KR" altLang="ko-KR" sz="1700"/>
          </a:p>
          <a:p>
            <a:pPr lvl="0">
              <a:defRPr/>
            </a:pPr>
            <a:r>
              <a:rPr lang="ko-KR" altLang="ko-KR" sz="1700"/>
              <a:t>-</a:t>
            </a:r>
            <a:r>
              <a:rPr lang="ko-KR" altLang="ko-KR" sz="1700" b="1"/>
              <a:t>-group suricata: suricata</a:t>
            </a:r>
            <a:r>
              <a:rPr lang="en-US" altLang="ko-KR" sz="1700"/>
              <a:t>:</a:t>
            </a:r>
            <a:r>
              <a:rPr lang="ko-KR" altLang="en-US" sz="1700"/>
              <a:t> </a:t>
            </a:r>
            <a:r>
              <a:rPr lang="ko-KR" altLang="ko-KR" sz="1700"/>
              <a:t>그룹에 속하게 함</a:t>
            </a:r>
            <a:endParaRPr lang="ko-KR" altLang="ko-KR" sz="1700"/>
          </a:p>
          <a:p>
            <a:pPr lvl="0">
              <a:lnSpc>
                <a:spcPct val="50000"/>
              </a:lnSpc>
              <a:defRPr/>
            </a:pPr>
            <a:endParaRPr lang="ko-KR" altLang="ko-KR" sz="1700"/>
          </a:p>
          <a:p>
            <a:pPr lvl="0">
              <a:defRPr/>
            </a:pPr>
            <a:r>
              <a:rPr lang="ko-KR" altLang="ko-KR" sz="1700" b="1"/>
              <a:t>--shell /usr/sbin/nologin </a:t>
            </a:r>
            <a:r>
              <a:rPr lang="ko-KR" altLang="ko-KR" sz="1700"/>
              <a:t>:</a:t>
            </a:r>
            <a:r>
              <a:rPr lang="ko-KR" altLang="en-US" sz="1700"/>
              <a:t> 로그인 불가능하도록 설정</a:t>
            </a:r>
            <a:endParaRPr lang="ko-KR" altLang="en-US" sz="1700"/>
          </a:p>
          <a:p>
            <a:pPr lvl="0">
              <a:lnSpc>
                <a:spcPct val="50000"/>
              </a:lnSpc>
              <a:defRPr/>
            </a:pPr>
            <a:endParaRPr lang="ko-KR" altLang="en-US" sz="1700"/>
          </a:p>
          <a:p>
            <a:pPr lvl="0">
              <a:defRPr/>
            </a:pPr>
            <a:r>
              <a:rPr lang="en-US" altLang="ko-KR" sz="1700" b="1"/>
              <a:t>--</a:t>
            </a:r>
            <a:r>
              <a:rPr lang="ko-KR" altLang="en-US" sz="1700" b="1"/>
              <a:t>suricata </a:t>
            </a:r>
            <a:r>
              <a:rPr lang="ko-KR" altLang="en-US" sz="1700"/>
              <a:t>: Suricata 서비스 전용 사용자 및 그룹 이름 </a:t>
            </a:r>
            <a:endParaRPr lang="ko-KR" altLang="en-US" sz="1700"/>
          </a:p>
        </p:txBody>
      </p:sp>
    </p:spTree>
    <p:extLst>
      <p:ext uri="{BB962C8B-B14F-4D97-AF65-F5344CB8AC3E}">
        <p14:creationId xmlns:p14="http://schemas.microsoft.com/office/powerpoint/2010/main" val="1830239931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3724275" y="697230"/>
            <a:ext cx="108394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사용자</a:t>
            </a:r>
            <a:r>
              <a:rPr xmlns:mc="http://schemas.openxmlformats.org/markup-compatibility/2006" xmlns:hp="http://schemas.haansoft.com/office/presentation/8.0" lang="en-US" altLang="ko-KR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/</a:t>
            </a: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그룹 생성 및 권한 설정 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53" name="가로 글상자 52"/>
          <p:cNvSpPr txBox="1"/>
          <p:nvPr/>
        </p:nvSpPr>
        <p:spPr>
          <a:xfrm>
            <a:off x="761995" y="2705100"/>
            <a:ext cx="6054095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최소 권한을 부여한 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용 사용자 그룹 생성</a:t>
            </a:r>
            <a:endPara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92" name="가로 글상자 91"/>
          <p:cNvSpPr txBox="1"/>
          <p:nvPr/>
        </p:nvSpPr>
        <p:spPr>
          <a:xfrm>
            <a:off x="1600200" y="9422130"/>
            <a:ext cx="4419600" cy="52197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sudo systemctl edit suricata.service</a:t>
            </a:r>
            <a:endParaRPr lang="en-US" altLang="ko-KR"/>
          </a:p>
        </p:txBody>
      </p:sp>
      <p:sp>
        <p:nvSpPr>
          <p:cNvPr id="93" name="가로 글상자 92"/>
          <p:cNvSpPr txBox="1"/>
          <p:nvPr/>
        </p:nvSpPr>
        <p:spPr>
          <a:xfrm>
            <a:off x="2242185" y="6023498"/>
            <a:ext cx="2583180" cy="339202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1700"/>
              <a:t>&lt;Suricata</a:t>
            </a:r>
            <a:r>
              <a:rPr lang="ko-KR" altLang="en-US" sz="1700"/>
              <a:t> 시스템 편잡 창</a:t>
            </a:r>
            <a:r>
              <a:rPr lang="en-US" altLang="ko-KR" sz="1700"/>
              <a:t>&gt;</a:t>
            </a:r>
            <a:endParaRPr lang="en-US" altLang="ko-KR" sz="1700"/>
          </a:p>
        </p:txBody>
      </p:sp>
      <p:sp>
        <p:nvSpPr>
          <p:cNvPr id="94" name="오른쪽 화살표 93"/>
          <p:cNvSpPr/>
          <p:nvPr/>
        </p:nvSpPr>
        <p:spPr>
          <a:xfrm rot="35648">
            <a:off x="6398910" y="7598688"/>
            <a:ext cx="915141" cy="22623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95" name="그림 94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142999" y="6438899"/>
            <a:ext cx="4876800" cy="3048000"/>
          </a:xfrm>
          <a:prstGeom prst="rect">
            <a:avLst/>
          </a:prstGeom>
        </p:spPr>
      </p:pic>
      <p:pic>
        <p:nvPicPr>
          <p:cNvPr id="96" name="그림 95"/>
          <p:cNvPicPr/>
          <p:nvPr/>
        </p:nvPicPr>
        <p:blipFill rotWithShape="1">
          <a:blip r:embed="rId4">
            <a:lum/>
          </a:blip>
          <a:srcRect/>
          <a:stretch>
            <a:fillRect/>
          </a:stretch>
        </p:blipFill>
        <p:spPr>
          <a:xfrm>
            <a:off x="7696200" y="6320902"/>
            <a:ext cx="4876800" cy="3352800"/>
          </a:xfrm>
          <a:prstGeom prst="rect">
            <a:avLst/>
          </a:prstGeom>
        </p:spPr>
      </p:pic>
      <p:sp>
        <p:nvSpPr>
          <p:cNvPr id="97" name="직사각형 96"/>
          <p:cNvSpPr/>
          <p:nvPr/>
        </p:nvSpPr>
        <p:spPr>
          <a:xfrm>
            <a:off x="7696200" y="6549502"/>
            <a:ext cx="2362200" cy="457200"/>
          </a:xfrm>
          <a:prstGeom prst="rect">
            <a:avLst/>
          </a:prstGeom>
          <a:noFill/>
          <a:ln w="4445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98" name="가로 글상자 97"/>
          <p:cNvSpPr txBox="1"/>
          <p:nvPr/>
        </p:nvSpPr>
        <p:spPr>
          <a:xfrm>
            <a:off x="6248400" y="7856332"/>
            <a:ext cx="1148715" cy="29337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1400"/>
              <a:t>서비스 설정</a:t>
            </a:r>
            <a:endParaRPr lang="ko-KR" altLang="en-US" sz="1400"/>
          </a:p>
        </p:txBody>
      </p:sp>
      <p:pic>
        <p:nvPicPr>
          <p:cNvPr id="99" name="그림 9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543222" y="8073502"/>
            <a:ext cx="6830378" cy="838317"/>
          </a:xfrm>
          <a:prstGeom prst="rect">
            <a:avLst/>
          </a:prstGeom>
        </p:spPr>
      </p:pic>
      <p:sp>
        <p:nvSpPr>
          <p:cNvPr id="100" name="직사각형 99"/>
          <p:cNvSpPr/>
          <p:nvPr/>
        </p:nvSpPr>
        <p:spPr>
          <a:xfrm>
            <a:off x="10515600" y="8073502"/>
            <a:ext cx="6858000" cy="838200"/>
          </a:xfrm>
          <a:prstGeom prst="rect">
            <a:avLst/>
          </a:prstGeom>
          <a:noFill/>
          <a:ln w="1016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2" name="가로 글상자 101"/>
          <p:cNvSpPr txBox="1"/>
          <p:nvPr/>
        </p:nvSpPr>
        <p:spPr>
          <a:xfrm>
            <a:off x="12666344" y="8987902"/>
            <a:ext cx="5316856" cy="9791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500"/>
              <a:t>user=suricata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group=suricata</a:t>
            </a:r>
            <a:r>
              <a:rPr lang="ko-KR" altLang="en-US" sz="1500"/>
              <a:t> </a:t>
            </a:r>
            <a:endParaRPr lang="ko-KR" altLang="en-US" sz="1500"/>
          </a:p>
          <a:p>
            <a:pPr lvl="0">
              <a:defRPr/>
            </a:pPr>
            <a:r>
              <a:rPr lang="en-US" altLang="ko-KR" sz="1500"/>
              <a:t>suricata</a:t>
            </a:r>
            <a:r>
              <a:rPr lang="ko-KR" altLang="en-US" sz="1400"/>
              <a:t>가 실행될 때 반드시</a:t>
            </a:r>
            <a:r>
              <a:rPr lang="en-US" altLang="ko-KR" sz="1400"/>
              <a:t> </a:t>
            </a:r>
            <a:r>
              <a:rPr lang="ko-KR" altLang="en-US" sz="1400"/>
              <a:t>이 최소 권한 계정으로만 실행되도록 설정함</a:t>
            </a:r>
            <a:endParaRPr lang="ko-KR" altLang="en-US" sz="1400"/>
          </a:p>
        </p:txBody>
      </p:sp>
      <p:sp>
        <p:nvSpPr>
          <p:cNvPr id="106" name="가로 글상자 105"/>
          <p:cNvSpPr txBox="1"/>
          <p:nvPr/>
        </p:nvSpPr>
        <p:spPr>
          <a:xfrm>
            <a:off x="990600" y="4055797"/>
            <a:ext cx="6216015" cy="3600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sudo setcap 'cap_net_admin,cap_net_raw=eip' /usr/bin/suricata</a:t>
            </a:r>
            <a:endParaRPr lang="en-US" altLang="ko-KR"/>
          </a:p>
        </p:txBody>
      </p:sp>
      <p:pic>
        <p:nvPicPr>
          <p:cNvPr id="107" name="그림 10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43000" y="3886035"/>
            <a:ext cx="5715000" cy="225007"/>
          </a:xfrm>
          <a:prstGeom prst="rect">
            <a:avLst/>
          </a:prstGeom>
        </p:spPr>
      </p:pic>
      <p:sp>
        <p:nvSpPr>
          <p:cNvPr id="108" name="가로 글상자 107"/>
          <p:cNvSpPr txBox="1"/>
          <p:nvPr/>
        </p:nvSpPr>
        <p:spPr>
          <a:xfrm>
            <a:off x="1034415" y="3463290"/>
            <a:ext cx="4158615" cy="3409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700"/>
              <a:t>권한 부여</a:t>
            </a:r>
            <a:r>
              <a:rPr lang="en-US" altLang="ko-KR" sz="1700"/>
              <a:t>(cap_net_admin, cap_net_raw)</a:t>
            </a:r>
            <a:endParaRPr lang="en-US" altLang="ko-KR" sz="1700"/>
          </a:p>
        </p:txBody>
      </p:sp>
      <p:sp>
        <p:nvSpPr>
          <p:cNvPr id="109" name="가로 글상자 108"/>
          <p:cNvSpPr txBox="1"/>
          <p:nvPr/>
        </p:nvSpPr>
        <p:spPr>
          <a:xfrm>
            <a:off x="7206615" y="3543300"/>
            <a:ext cx="8153400" cy="1044057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/>
              <a:t>cap_net_admin  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     네트워크 인터페이스를 제어하고 네트워크   설정을 관리할 수 있는 권한</a:t>
            </a:r>
            <a:endParaRPr lang="ko-KR" altLang="en-US" sz="1500"/>
          </a:p>
          <a:p>
            <a:pPr lvl="0">
              <a:lnSpc>
                <a:spcPct val="20000"/>
              </a:lnSpc>
              <a:defRPr/>
            </a:pPr>
            <a:endParaRPr lang="ko-KR" altLang="en-US" sz="1500"/>
          </a:p>
          <a:p>
            <a:pPr marL="257040" lvl="0" indent="-257040">
              <a:buClr>
                <a:schemeClr val="tx1"/>
              </a:buClr>
              <a:buFont typeface="Wingdings"/>
              <a:buChar char="§"/>
              <a:defRPr/>
            </a:pPr>
            <a:r>
              <a:rPr lang="ko-KR" altLang="en-US" sz="1500"/>
              <a:t>cap_net_raw </a:t>
            </a:r>
            <a:endParaRPr lang="ko-KR" altLang="en-US" sz="1500"/>
          </a:p>
          <a:p>
            <a:pPr lvl="0">
              <a:defRPr/>
            </a:pPr>
            <a:r>
              <a:rPr lang="ko-KR" altLang="en-US" sz="1500"/>
              <a:t>    네트워크의 가공되지 않은 패킷을 직접 읽고 쓸 수 있는 권한</a:t>
            </a:r>
            <a:endParaRPr lang="ko-KR" altLang="en-US" sz="1500"/>
          </a:p>
        </p:txBody>
      </p:sp>
      <p:pic>
        <p:nvPicPr>
          <p:cNvPr id="115" name="그림 114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110615" y="5111115"/>
            <a:ext cx="5638800" cy="4895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6" name="가로 글상자 115"/>
          <p:cNvSpPr txBox="1"/>
          <p:nvPr/>
        </p:nvSpPr>
        <p:spPr>
          <a:xfrm>
            <a:off x="7206614" y="5067300"/>
            <a:ext cx="7576186" cy="636270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sudo chown -R suricata:suricata </a:t>
            </a:r>
            <a:r>
              <a:rPr lang="en-US" altLang="ko-KR">
                <a:solidFill>
                  <a:srgbClr val="783e94"/>
                </a:solidFill>
              </a:rPr>
              <a:t>/var/log/suricata  </a:t>
            </a:r>
            <a:r>
              <a:rPr lang="ko-KR" altLang="en-US">
                <a:solidFill>
                  <a:srgbClr val="783e94"/>
                </a:solidFill>
              </a:rPr>
              <a:t> </a:t>
            </a:r>
            <a:r>
              <a:rPr lang="en-US" altLang="ko-KR">
                <a:solidFill>
                  <a:srgbClr val="783e94"/>
                </a:solidFill>
              </a:rPr>
              <a:t>----&gt;</a:t>
            </a:r>
            <a:r>
              <a:rPr lang="ko-KR" altLang="en-US">
                <a:solidFill>
                  <a:srgbClr val="783e94"/>
                </a:solidFill>
              </a:rPr>
              <a:t> </a:t>
            </a:r>
            <a:r>
              <a:rPr lang="ko-KR" altLang="en-US" sz="1700">
                <a:solidFill>
                  <a:srgbClr val="783e94"/>
                </a:solidFill>
              </a:rPr>
              <a:t>로그 파일 </a:t>
            </a:r>
            <a:endParaRPr lang="ko-KR" altLang="en-US" sz="1700">
              <a:solidFill>
                <a:srgbClr val="783e94"/>
              </a:solidFill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sudo chown -R suricata:suricata </a:t>
            </a:r>
            <a:r>
              <a:rPr lang="en-US" altLang="ko-KR">
                <a:solidFill>
                  <a:srgbClr val="783e94"/>
                </a:solidFill>
              </a:rPr>
              <a:t>/etc/suricata</a:t>
            </a:r>
            <a:r>
              <a:rPr lang="ko-KR" altLang="en-US">
                <a:solidFill>
                  <a:srgbClr val="783e94"/>
                </a:solidFill>
              </a:rPr>
              <a:t> </a:t>
            </a:r>
            <a:r>
              <a:rPr lang="en-US" altLang="ko-KR">
                <a:solidFill>
                  <a:srgbClr val="783e94"/>
                </a:solidFill>
              </a:rPr>
              <a:t>  ----&gt;</a:t>
            </a:r>
            <a:r>
              <a:rPr lang="ko-KR" altLang="en-US">
                <a:solidFill>
                  <a:srgbClr val="783e94"/>
                </a:solidFill>
              </a:rPr>
              <a:t> </a:t>
            </a:r>
            <a:r>
              <a:rPr lang="ko-KR" altLang="en-US" sz="1700">
                <a:solidFill>
                  <a:srgbClr val="783e94"/>
                </a:solidFill>
              </a:rPr>
              <a:t>환경 설정 파일</a:t>
            </a:r>
            <a:endParaRPr lang="ko-KR" altLang="en-US" sz="1700">
              <a:solidFill>
                <a:srgbClr val="783e94"/>
              </a:solidFill>
            </a:endParaRPr>
          </a:p>
        </p:txBody>
      </p:sp>
      <p:sp>
        <p:nvSpPr>
          <p:cNvPr id="117" name="가로 글상자 116"/>
          <p:cNvSpPr txBox="1"/>
          <p:nvPr/>
        </p:nvSpPr>
        <p:spPr>
          <a:xfrm>
            <a:off x="1034415" y="4783862"/>
            <a:ext cx="3139440" cy="336259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1650"/>
              <a:t>소유권 변경 (로그 및 설정 파일) </a:t>
            </a:r>
            <a:endParaRPr lang="en-US" altLang="ko-KR" sz="1650"/>
          </a:p>
        </p:txBody>
      </p:sp>
      <p:pic>
        <p:nvPicPr>
          <p:cNvPr id="118" name="그림 117"/>
          <p:cNvPicPr/>
          <p:nvPr/>
        </p:nvPicPr>
        <p:blipFill rotWithShape="1">
          <a:blip r:embed="rId8"/>
          <a:stretch>
            <a:fillRect/>
          </a:stretch>
        </p:blipFill>
        <p:spPr>
          <a:xfrm>
            <a:off x="13030200" y="6760845"/>
            <a:ext cx="502920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9" name="가로 글상자 118"/>
          <p:cNvSpPr txBox="1"/>
          <p:nvPr/>
        </p:nvSpPr>
        <p:spPr>
          <a:xfrm>
            <a:off x="13876020" y="7334250"/>
            <a:ext cx="3040380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sudo systemctl restart suricata</a:t>
            </a:r>
            <a:endParaRPr lang="en-US" altLang="ko-KR"/>
          </a:p>
        </p:txBody>
      </p:sp>
      <p:sp>
        <p:nvSpPr>
          <p:cNvPr id="120" name="가로 글상자 119"/>
          <p:cNvSpPr txBox="1"/>
          <p:nvPr/>
        </p:nvSpPr>
        <p:spPr>
          <a:xfrm>
            <a:off x="12954000" y="6362700"/>
            <a:ext cx="1748790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재시작  </a:t>
            </a:r>
            <a:r>
              <a:rPr lang="en-US" altLang="ko-KR"/>
              <a:t>-&gt;</a:t>
            </a:r>
            <a:r>
              <a:rPr lang="ko-KR" altLang="en-US"/>
              <a:t>  완료</a:t>
            </a:r>
            <a:endParaRPr lang="ko-KR" altLang="en-US"/>
          </a:p>
        </p:txBody>
      </p:sp>
      <p:sp>
        <p:nvSpPr>
          <p:cNvPr id="121" name="직사각형 120"/>
          <p:cNvSpPr/>
          <p:nvPr/>
        </p:nvSpPr>
        <p:spPr>
          <a:xfrm>
            <a:off x="15011400" y="6730365"/>
            <a:ext cx="2895600" cy="266700"/>
          </a:xfrm>
          <a:prstGeom prst="rect">
            <a:avLst/>
          </a:prstGeom>
          <a:noFill/>
          <a:ln w="5080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55912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6610350" y="800100"/>
            <a:ext cx="5067300" cy="155257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 실행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24" name="가로 글상자 23"/>
          <p:cNvSpPr txBox="1"/>
          <p:nvPr/>
        </p:nvSpPr>
        <p:spPr>
          <a:xfrm>
            <a:off x="761992" y="2705100"/>
            <a:ext cx="3663322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a 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실행</a:t>
            </a: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(running) 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확인</a:t>
            </a:r>
            <a:endPara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30" name="그림 29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4099560" y="3928108"/>
            <a:ext cx="10134600" cy="5562600"/>
          </a:xfrm>
          <a:prstGeom prst="rect">
            <a:avLst/>
          </a:prstGeom>
          <a:ln>
            <a:solidFill>
              <a:srgbClr val="42c7f1"/>
            </a:solidFill>
          </a:ln>
        </p:spPr>
      </p:pic>
      <p:sp>
        <p:nvSpPr>
          <p:cNvPr id="38" name="가로 글상자 37"/>
          <p:cNvSpPr txBox="1"/>
          <p:nvPr/>
        </p:nvSpPr>
        <p:spPr>
          <a:xfrm>
            <a:off x="7696200" y="3238500"/>
            <a:ext cx="2887981" cy="44196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300"/>
              <a:t>&lt; Suricata </a:t>
            </a:r>
            <a:r>
              <a:rPr lang="ko-KR" altLang="en-US" sz="2300"/>
              <a:t>실행</a:t>
            </a:r>
            <a:r>
              <a:rPr lang="en-US" altLang="ko-KR" sz="2300"/>
              <a:t> </a:t>
            </a:r>
            <a:r>
              <a:rPr lang="ko-KR" altLang="en-US" sz="2300"/>
              <a:t>결과</a:t>
            </a:r>
            <a:r>
              <a:rPr lang="en-US" altLang="ko-KR" sz="2300"/>
              <a:t> &gt;</a:t>
            </a:r>
            <a:endParaRPr lang="en-US" altLang="ko-KR" sz="2300"/>
          </a:p>
        </p:txBody>
      </p:sp>
      <p:sp>
        <p:nvSpPr>
          <p:cNvPr id="41" name="직사각형 40"/>
          <p:cNvSpPr/>
          <p:nvPr/>
        </p:nvSpPr>
        <p:spPr>
          <a:xfrm>
            <a:off x="4328160" y="7549093"/>
            <a:ext cx="9144000" cy="722415"/>
          </a:xfrm>
          <a:prstGeom prst="rect">
            <a:avLst/>
          </a:prstGeom>
          <a:noFill/>
          <a:ln w="4445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419600" y="5195132"/>
            <a:ext cx="1981200" cy="397328"/>
          </a:xfrm>
          <a:prstGeom prst="rect">
            <a:avLst/>
          </a:prstGeom>
          <a:noFill/>
          <a:ln w="44450">
            <a:solidFill>
              <a:schemeClr val="accent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9" name="가로 글상자 58"/>
          <p:cNvSpPr txBox="1"/>
          <p:nvPr/>
        </p:nvSpPr>
        <p:spPr>
          <a:xfrm>
            <a:off x="14352270" y="7661909"/>
            <a:ext cx="3554730" cy="41529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2100"/>
              <a:t>---&gt;</a:t>
            </a:r>
            <a:r>
              <a:rPr lang="ko-KR" altLang="en-US" sz="2100"/>
              <a:t>   사용자</a:t>
            </a:r>
            <a:r>
              <a:rPr lang="en-US" altLang="ko-KR" sz="2100"/>
              <a:t>/</a:t>
            </a:r>
            <a:r>
              <a:rPr lang="ko-KR" altLang="en-US" sz="2100"/>
              <a:t> 그룹 생성 완료</a:t>
            </a:r>
            <a:r>
              <a:rPr lang="en-US" altLang="ko-KR" sz="2100"/>
              <a:t>!</a:t>
            </a:r>
            <a:endParaRPr lang="en-US" altLang="ko-KR" sz="2100"/>
          </a:p>
        </p:txBody>
      </p:sp>
      <p:sp>
        <p:nvSpPr>
          <p:cNvPr id="60" name="가로 글상자 59"/>
          <p:cNvSpPr txBox="1"/>
          <p:nvPr/>
        </p:nvSpPr>
        <p:spPr>
          <a:xfrm>
            <a:off x="2432685" y="5196839"/>
            <a:ext cx="1758314" cy="40767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100"/>
              <a:t>작동 중   </a:t>
            </a:r>
            <a:r>
              <a:rPr lang="en-US" altLang="ko-KR" sz="2100"/>
              <a:t>---&gt;</a:t>
            </a:r>
            <a:r>
              <a:rPr lang="ko-KR" altLang="en-US" sz="2100"/>
              <a:t>  </a:t>
            </a:r>
            <a:endParaRPr lang="ko-KR" altLang="en-US" sz="2100"/>
          </a:p>
        </p:txBody>
      </p:sp>
      <p:sp>
        <p:nvSpPr>
          <p:cNvPr id="63" name="직사각형 62"/>
          <p:cNvSpPr/>
          <p:nvPr/>
        </p:nvSpPr>
        <p:spPr>
          <a:xfrm>
            <a:off x="5943600" y="3924300"/>
            <a:ext cx="3733800" cy="366625"/>
          </a:xfrm>
          <a:prstGeom prst="rect">
            <a:avLst/>
          </a:prstGeom>
          <a:noFill/>
          <a:ln w="5080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5" name="가로 글상자 64"/>
          <p:cNvSpPr txBox="1"/>
          <p:nvPr/>
        </p:nvSpPr>
        <p:spPr>
          <a:xfrm>
            <a:off x="6705600" y="9639300"/>
            <a:ext cx="4876800" cy="4152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100"/>
              <a:t>sudo systemctl status suricata --no-pager</a:t>
            </a:r>
            <a:r>
              <a:rPr lang="ko-KR" altLang="en-US" sz="2100"/>
              <a:t> </a:t>
            </a:r>
            <a:r>
              <a:rPr lang="en-US" altLang="ko-KR" sz="2100"/>
              <a:t>-l</a:t>
            </a:r>
            <a:endParaRPr lang="en-US" altLang="ko-KR" sz="2100"/>
          </a:p>
        </p:txBody>
      </p:sp>
    </p:spTree>
    <p:extLst>
      <p:ext uri="{BB962C8B-B14F-4D97-AF65-F5344CB8AC3E}">
        <p14:creationId xmlns:p14="http://schemas.microsoft.com/office/powerpoint/2010/main" val="1447342891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6057900" y="693420"/>
            <a:ext cx="6819900" cy="155448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룰(rule) 업데이트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24" name="가로 글상자 23"/>
          <p:cNvSpPr txBox="1"/>
          <p:nvPr/>
        </p:nvSpPr>
        <p:spPr>
          <a:xfrm>
            <a:off x="761996" y="2705100"/>
            <a:ext cx="10635619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 IDS가 특정 네트워크 트래픽(SSH, HTTPS, ICMP 등) 을 탐지하도록 룰을 설정</a:t>
            </a:r>
            <a:endPara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30" name="그림 29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848360" y="3848100"/>
            <a:ext cx="5781040" cy="7258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7" name="가로 글상자 36"/>
          <p:cNvSpPr txBox="1"/>
          <p:nvPr/>
        </p:nvSpPr>
        <p:spPr>
          <a:xfrm>
            <a:off x="2590800" y="4686300"/>
            <a:ext cx="2425065" cy="3409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700"/>
              <a:t>룰</a:t>
            </a:r>
            <a:r>
              <a:rPr lang="en-US" altLang="ko-KR" sz="1700"/>
              <a:t>(rule) </a:t>
            </a:r>
            <a:r>
              <a:rPr lang="ko-KR" altLang="en-US" sz="1700"/>
              <a:t>디렉토리 생성</a:t>
            </a:r>
            <a:endParaRPr lang="ko-KR" altLang="en-US" sz="1700"/>
          </a:p>
        </p:txBody>
      </p:sp>
      <p:pic>
        <p:nvPicPr>
          <p:cNvPr id="39" name="그림 38"/>
          <p:cNvPicPr/>
          <p:nvPr/>
        </p:nvPicPr>
        <p:blipFill rotWithShape="1">
          <a:blip r:embed="rId4">
            <a:lum/>
          </a:blip>
          <a:srcRect/>
          <a:stretch>
            <a:fillRect/>
          </a:stretch>
        </p:blipFill>
        <p:spPr>
          <a:xfrm>
            <a:off x="838200" y="5412105"/>
            <a:ext cx="5867399" cy="1087755"/>
          </a:xfrm>
          <a:prstGeom prst="rect">
            <a:avLst/>
          </a:prstGeom>
        </p:spPr>
      </p:pic>
      <p:sp>
        <p:nvSpPr>
          <p:cNvPr id="40" name="가로 글상자 39"/>
          <p:cNvSpPr txBox="1"/>
          <p:nvPr/>
        </p:nvSpPr>
        <p:spPr>
          <a:xfrm>
            <a:off x="2023110" y="6612254"/>
            <a:ext cx="3097530" cy="367666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1900"/>
              <a:t>local.rule</a:t>
            </a:r>
            <a:r>
              <a:rPr lang="ko-KR" altLang="en-US" sz="1700"/>
              <a:t> 파일 생성 및 룰 설정</a:t>
            </a:r>
            <a:endParaRPr lang="ko-KR" altLang="en-US" sz="1700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381944" y="7505700"/>
            <a:ext cx="4444071" cy="988368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406416" y="8671439"/>
            <a:ext cx="4261757" cy="1048984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22203">
            <a:off x="6764006" y="8405438"/>
            <a:ext cx="493013" cy="493013"/>
          </a:xfrm>
          <a:prstGeom prst="rect">
            <a:avLst/>
          </a:prstGeom>
        </p:spPr>
      </p:pic>
      <p:sp>
        <p:nvSpPr>
          <p:cNvPr id="45" name="직사각형 44"/>
          <p:cNvSpPr/>
          <p:nvPr/>
        </p:nvSpPr>
        <p:spPr>
          <a:xfrm>
            <a:off x="7635016" y="9128638"/>
            <a:ext cx="1661384" cy="282061"/>
          </a:xfrm>
          <a:prstGeom prst="rect">
            <a:avLst/>
          </a:prstGeom>
          <a:noFill/>
          <a:ln w="44450">
            <a:solidFill>
              <a:schemeClr val="accent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6" name="가로 글상자 45"/>
          <p:cNvSpPr txBox="1"/>
          <p:nvPr/>
        </p:nvSpPr>
        <p:spPr>
          <a:xfrm>
            <a:off x="7838844" y="9812655"/>
            <a:ext cx="3292071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suricata</a:t>
            </a:r>
            <a:r>
              <a:rPr lang="ko-KR" altLang="en-US"/>
              <a:t> </a:t>
            </a:r>
            <a:r>
              <a:rPr lang="ko-KR" altLang="en-US" sz="1700"/>
              <a:t>설정 창에</a:t>
            </a:r>
            <a:r>
              <a:rPr lang="ko-KR" altLang="en-US"/>
              <a:t> </a:t>
            </a:r>
            <a:r>
              <a:rPr lang="en-US" altLang="ko-KR"/>
              <a:t>local.rule</a:t>
            </a:r>
            <a:r>
              <a:rPr lang="en-US" altLang="ko-KR" sz="1700"/>
              <a:t> </a:t>
            </a:r>
            <a:r>
              <a:rPr lang="ko-KR" altLang="en-US" sz="1700"/>
              <a:t>추가</a:t>
            </a:r>
            <a:endParaRPr lang="ko-KR" altLang="en-US" sz="1700"/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14400" y="7353300"/>
            <a:ext cx="5471608" cy="2472198"/>
          </a:xfrm>
          <a:prstGeom prst="rect">
            <a:avLst/>
          </a:prstGeom>
        </p:spPr>
      </p:pic>
      <p:sp>
        <p:nvSpPr>
          <p:cNvPr id="49" name="가로 글상자 48"/>
          <p:cNvSpPr txBox="1"/>
          <p:nvPr/>
        </p:nvSpPr>
        <p:spPr>
          <a:xfrm>
            <a:off x="2485801" y="9867900"/>
            <a:ext cx="2482215" cy="3409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700"/>
              <a:t>&lt;Suricata</a:t>
            </a:r>
            <a:r>
              <a:rPr lang="ko-KR" altLang="en-US" sz="1700"/>
              <a:t> 설정 편집 창</a:t>
            </a:r>
            <a:r>
              <a:rPr lang="en-US" altLang="ko-KR" sz="1700"/>
              <a:t>&gt;</a:t>
            </a:r>
            <a:endParaRPr lang="en-US" altLang="ko-KR" sz="1700"/>
          </a:p>
        </p:txBody>
      </p:sp>
      <p:sp>
        <p:nvSpPr>
          <p:cNvPr id="50" name="가로 글상자 49"/>
          <p:cNvSpPr txBox="1"/>
          <p:nvPr/>
        </p:nvSpPr>
        <p:spPr>
          <a:xfrm>
            <a:off x="7391400" y="5295900"/>
            <a:ext cx="11353800" cy="34248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 b="1"/>
              <a:t>예시</a:t>
            </a:r>
            <a:r>
              <a:rPr lang="en-US" altLang="ko-KR" sz="1700" b="1"/>
              <a:t>:</a:t>
            </a:r>
            <a:r>
              <a:rPr lang="ko-KR" altLang="en-US" sz="1700" b="1"/>
              <a:t> </a:t>
            </a:r>
            <a:r>
              <a:rPr lang="en-US" altLang="ko-KR" sz="1700" b="1"/>
              <a:t>alert tcp any any -&gt; any 22 (msg:"LOCAL TEST SSH SYN DETECTED"; flags:S; flow:to_server; sid:10000001; rev:1;)</a:t>
            </a:r>
            <a:endParaRPr lang="en-US" altLang="ko-KR" sz="1700" b="1"/>
          </a:p>
        </p:txBody>
      </p:sp>
      <p:sp>
        <p:nvSpPr>
          <p:cNvPr id="51" name="가로 글상자 50"/>
          <p:cNvSpPr txBox="1"/>
          <p:nvPr/>
        </p:nvSpPr>
        <p:spPr>
          <a:xfrm>
            <a:off x="7391400" y="5676900"/>
            <a:ext cx="8534400" cy="36195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/>
              <a:t>형식</a:t>
            </a:r>
            <a:r>
              <a:rPr lang="en-US" altLang="ko-KR"/>
              <a:t>:</a:t>
            </a:r>
            <a:r>
              <a:rPr lang="ko-KR" altLang="en-US"/>
              <a:t> &lt;action&gt; &lt;protocol&gt; &lt;src_ip&gt; &lt;src_port&gt; -&gt; &lt;dst_ip&gt; &lt;dst_port&gt; </a:t>
            </a:r>
            <a:r>
              <a:rPr lang="ko-KR" altLang="en-US" sz="1600"/>
              <a:t>( &lt;옵션&gt; )</a:t>
            </a:r>
            <a:endParaRPr lang="ko-KR" altLang="en-US" sz="1600"/>
          </a:p>
        </p:txBody>
      </p:sp>
      <p:sp>
        <p:nvSpPr>
          <p:cNvPr id="52" name="가로 글상자 51"/>
          <p:cNvSpPr txBox="1"/>
          <p:nvPr/>
        </p:nvSpPr>
        <p:spPr>
          <a:xfrm>
            <a:off x="7391400" y="6097905"/>
            <a:ext cx="9753600" cy="6438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“</a:t>
            </a:r>
            <a:r>
              <a:rPr lang="ko-KR" altLang="en-US" sz="1600"/>
              <a:t>어떤 클라이언트(</a:t>
            </a:r>
            <a:r>
              <a:rPr lang="ko-KR" altLang="en-US"/>
              <a:t>any IP, any port)</a:t>
            </a:r>
            <a:r>
              <a:rPr lang="ko-KR" altLang="en-US" sz="1600"/>
              <a:t>가 서버(</a:t>
            </a:r>
            <a:r>
              <a:rPr lang="ko-KR" altLang="en-US"/>
              <a:t>any IP</a:t>
            </a:r>
            <a:r>
              <a:rPr lang="ko-KR" altLang="en-US" sz="1600"/>
              <a:t>)의 22번 포트(</a:t>
            </a:r>
            <a:r>
              <a:rPr lang="ko-KR" altLang="en-US"/>
              <a:t>SSH</a:t>
            </a:r>
            <a:r>
              <a:rPr lang="ko-KR" altLang="en-US" sz="1600"/>
              <a:t>)에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SYN</a:t>
            </a:r>
            <a:r>
              <a:rPr lang="ko-KR" altLang="en-US" sz="1600"/>
              <a:t> 패킷을 보내면, </a:t>
            </a:r>
            <a:r>
              <a:rPr lang="ko-KR" altLang="en-US"/>
              <a:t>Suricata</a:t>
            </a:r>
            <a:r>
              <a:rPr lang="ko-KR" altLang="en-US" sz="1600"/>
              <a:t>가 ‘</a:t>
            </a:r>
            <a:r>
              <a:rPr lang="ko-KR" altLang="en-US"/>
              <a:t>LOCAL TEST SSH SYN DETECTED’ </a:t>
            </a:r>
            <a:r>
              <a:rPr lang="ko-KR" altLang="en-US" sz="1600"/>
              <a:t>메시지로 경고를 발생시켜라.”</a:t>
            </a:r>
            <a:endParaRPr lang="ko-KR" altLang="en-US" sz="1600"/>
          </a:p>
        </p:txBody>
      </p:sp>
      <p:sp>
        <p:nvSpPr>
          <p:cNvPr id="53" name="직사각형 52"/>
          <p:cNvSpPr/>
          <p:nvPr/>
        </p:nvSpPr>
        <p:spPr>
          <a:xfrm>
            <a:off x="7315200" y="5231069"/>
            <a:ext cx="10668000" cy="158883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4" name="오른쪽 화살표 53"/>
          <p:cNvSpPr/>
          <p:nvPr/>
        </p:nvSpPr>
        <p:spPr>
          <a:xfrm rot="96172">
            <a:off x="6842409" y="5900777"/>
            <a:ext cx="335983" cy="15245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5" name="가로 글상자 54"/>
          <p:cNvSpPr txBox="1"/>
          <p:nvPr/>
        </p:nvSpPr>
        <p:spPr>
          <a:xfrm>
            <a:off x="6789420" y="3600450"/>
            <a:ext cx="5097780" cy="125539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/>
              <a:t>- 룰(rule) 디렉토리를 생성</a:t>
            </a:r>
            <a:endParaRPr lang="ko-KR" altLang="en-US" sz="1600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/>
              <a:t>- 소유자를 최고 관리자(root)로 지정</a:t>
            </a:r>
            <a:endParaRPr lang="ko-KR" altLang="en-US" sz="1600"/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/>
              <a:t>- 소유자 외에는 읽기 권한만 허용</a:t>
            </a:r>
            <a:r>
              <a:rPr lang="en-US" altLang="ko-KR" sz="1600"/>
              <a:t> </a:t>
            </a:r>
            <a:endParaRPr lang="ko-KR" altLang="en-US" sz="1600"/>
          </a:p>
        </p:txBody>
      </p:sp>
      <p:pic>
        <p:nvPicPr>
          <p:cNvPr id="57" name="그림 56"/>
          <p:cNvPicPr/>
          <p:nvPr/>
        </p:nvPicPr>
        <p:blipFill rotWithShape="1">
          <a:blip r:embed="rId9"/>
          <a:stretch>
            <a:fillRect/>
          </a:stretch>
        </p:blipFill>
        <p:spPr>
          <a:xfrm>
            <a:off x="12412980" y="8412479"/>
            <a:ext cx="5257800" cy="54102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8" name="가로 글상자 57"/>
          <p:cNvSpPr txBox="1"/>
          <p:nvPr/>
        </p:nvSpPr>
        <p:spPr>
          <a:xfrm>
            <a:off x="13258800" y="8985885"/>
            <a:ext cx="3178579" cy="36766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sudo systemctl restart suricata</a:t>
            </a:r>
            <a:endParaRPr lang="en-US" altLang="ko-KR"/>
          </a:p>
        </p:txBody>
      </p:sp>
      <p:sp>
        <p:nvSpPr>
          <p:cNvPr id="59" name="가로 글상자 58"/>
          <p:cNvSpPr txBox="1"/>
          <p:nvPr/>
        </p:nvSpPr>
        <p:spPr>
          <a:xfrm>
            <a:off x="12336780" y="8014335"/>
            <a:ext cx="1828280" cy="34671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700"/>
              <a:t>재시작  </a:t>
            </a:r>
            <a:r>
              <a:rPr lang="en-US" altLang="ko-KR" sz="1700"/>
              <a:t>-&gt;</a:t>
            </a:r>
            <a:r>
              <a:rPr lang="ko-KR" altLang="en-US" sz="1700"/>
              <a:t>  완료</a:t>
            </a:r>
            <a:endParaRPr lang="ko-KR" altLang="en-US" sz="1700"/>
          </a:p>
        </p:txBody>
      </p:sp>
      <p:sp>
        <p:nvSpPr>
          <p:cNvPr id="60" name="직사각형 59"/>
          <p:cNvSpPr/>
          <p:nvPr/>
        </p:nvSpPr>
        <p:spPr>
          <a:xfrm>
            <a:off x="14394180" y="8382000"/>
            <a:ext cx="3027218" cy="286905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2001982" y="5400675"/>
            <a:ext cx="2036618" cy="200025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79109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pic>
        <p:nvPicPr>
          <p:cNvPr id="31" name="그림 30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1258638" y="3584828"/>
            <a:ext cx="6858000" cy="13796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3" name="가로 글상자 32"/>
          <p:cNvSpPr txBox="1"/>
          <p:nvPr/>
        </p:nvSpPr>
        <p:spPr>
          <a:xfrm>
            <a:off x="761996" y="2705100"/>
            <a:ext cx="10635619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Suricata IDS가 특정 네트워크 트래픽(SSH, HTTPS, ICMP 등) 을 탐지하도록 룰을 설정</a:t>
            </a:r>
            <a:endPara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34" name="가로 글상자 33"/>
          <p:cNvSpPr txBox="1"/>
          <p:nvPr/>
        </p:nvSpPr>
        <p:spPr>
          <a:xfrm>
            <a:off x="6057900" y="693420"/>
            <a:ext cx="6819900" cy="155448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룰(rule) 업데이트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2438400" y="5040630"/>
            <a:ext cx="4800600" cy="6362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sudo suricata -T -c /etc/suricata/suricata.yaml</a:t>
            </a: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36" name="가로 글상자 35"/>
          <p:cNvSpPr txBox="1"/>
          <p:nvPr/>
        </p:nvSpPr>
        <p:spPr>
          <a:xfrm>
            <a:off x="8305800" y="4091939"/>
            <a:ext cx="7978140" cy="36576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---&gt;</a:t>
            </a:r>
            <a:r>
              <a:rPr lang="ko-KR" altLang="en-US"/>
              <a:t>  Suricata가 설정과 룰을 정상적으로 인식하는지 테스트 하는 과정</a:t>
            </a:r>
            <a:endParaRPr lang="ko-KR" altLang="en-US"/>
          </a:p>
        </p:txBody>
      </p:sp>
      <p:sp>
        <p:nvSpPr>
          <p:cNvPr id="38" name="가로 글상자 37"/>
          <p:cNvSpPr txBox="1"/>
          <p:nvPr/>
        </p:nvSpPr>
        <p:spPr>
          <a:xfrm>
            <a:off x="7467600" y="6743700"/>
            <a:ext cx="3726180" cy="47243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500" b="1"/>
              <a:t>IDS</a:t>
            </a:r>
            <a:r>
              <a:rPr lang="ko-KR" altLang="en-US" sz="2500" b="1"/>
              <a:t> </a:t>
            </a:r>
            <a:r>
              <a:rPr lang="en-US" altLang="ko-KR" sz="2500" b="1"/>
              <a:t>Suricata</a:t>
            </a:r>
            <a:r>
              <a:rPr lang="ko-KR" altLang="en-US" sz="2500" b="1"/>
              <a:t> 설정 완료</a:t>
            </a:r>
            <a:r>
              <a:rPr lang="en-US" altLang="ko-KR" sz="2500" b="1"/>
              <a:t>!</a:t>
            </a:r>
            <a:endParaRPr lang="en-US" altLang="ko-KR" sz="2500" b="1"/>
          </a:p>
        </p:txBody>
      </p:sp>
      <p:sp>
        <p:nvSpPr>
          <p:cNvPr id="39" name="직사각형 38"/>
          <p:cNvSpPr/>
          <p:nvPr/>
        </p:nvSpPr>
        <p:spPr>
          <a:xfrm>
            <a:off x="3068782" y="3561194"/>
            <a:ext cx="3636818" cy="363105"/>
          </a:xfrm>
          <a:prstGeom prst="rect">
            <a:avLst/>
          </a:prstGeom>
          <a:noFill/>
          <a:ln w="44450">
            <a:solidFill>
              <a:srgbClr val="1e745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4876800" y="6225539"/>
            <a:ext cx="8077200" cy="1432561"/>
          </a:xfrm>
          <a:prstGeom prst="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59071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5543550" y="621030"/>
            <a:ext cx="100012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공격 탐지 및 로그 확인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24" name="가로 글상자 23"/>
          <p:cNvSpPr txBox="1"/>
          <p:nvPr/>
        </p:nvSpPr>
        <p:spPr>
          <a:xfrm>
            <a:off x="761992" y="2705100"/>
            <a:ext cx="3101348" cy="60579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EC2</a:t>
            </a:r>
            <a:r>
              <a: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 서버에 공격 보내기</a:t>
            </a:r>
            <a:endParaRPr xmlns:mc="http://schemas.openxmlformats.org/markup-compatibility/2006" xmlns:hp="http://schemas.haansoft.com/office/presentation/8.0" lang="ko-KR" altLang="en-US" sz="21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199" y="4627245"/>
            <a:ext cx="8077201" cy="1371599"/>
          </a:xfrm>
          <a:prstGeom prst="rect">
            <a:avLst/>
          </a:prstGeom>
        </p:spPr>
      </p:pic>
      <p:sp>
        <p:nvSpPr>
          <p:cNvPr id="33" name="가로 글상자 32"/>
          <p:cNvSpPr txBox="1"/>
          <p:nvPr/>
        </p:nvSpPr>
        <p:spPr>
          <a:xfrm>
            <a:off x="2819400" y="6078855"/>
            <a:ext cx="3577590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sudo tail -f /var/log/suricata/fast.log</a:t>
            </a:r>
            <a:endParaRPr lang="en-US" altLang="ko-KR"/>
          </a:p>
        </p:txBody>
      </p:sp>
      <p:sp>
        <p:nvSpPr>
          <p:cNvPr id="34" name="AutoShape 6"/>
          <p:cNvSpPr/>
          <p:nvPr/>
        </p:nvSpPr>
        <p:spPr>
          <a:xfrm flipV="1">
            <a:off x="9296400" y="2552700"/>
            <a:ext cx="0" cy="73914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lvl="0" algn="ctr">
              <a:defRPr/>
            </a:pPr>
            <a:endParaRPr lang="en-US" altLang="ko-KR"/>
          </a:p>
        </p:txBody>
      </p:sp>
      <p:sp>
        <p:nvSpPr>
          <p:cNvPr id="35" name="가로 글상자 34"/>
          <p:cNvSpPr txBox="1"/>
          <p:nvPr/>
        </p:nvSpPr>
        <p:spPr>
          <a:xfrm>
            <a:off x="3962400" y="3204210"/>
            <a:ext cx="1668780" cy="41529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2100"/>
              <a:t>&lt;</a:t>
            </a:r>
            <a:r>
              <a:rPr lang="ko-KR" altLang="en-US" sz="2100"/>
              <a:t> </a:t>
            </a:r>
            <a:r>
              <a:rPr lang="en-US" altLang="ko-KR" sz="2100"/>
              <a:t>EC2 </a:t>
            </a:r>
            <a:r>
              <a:rPr lang="ko-KR" altLang="en-US" sz="2100"/>
              <a:t>서버 </a:t>
            </a:r>
            <a:r>
              <a:rPr lang="en-US" altLang="ko-KR" sz="2100"/>
              <a:t>&gt;</a:t>
            </a:r>
            <a:r>
              <a:rPr lang="ko-KR" altLang="en-US" sz="2100"/>
              <a:t> </a:t>
            </a:r>
            <a:endParaRPr lang="ko-KR" altLang="en-US" sz="2100"/>
          </a:p>
        </p:txBody>
      </p:sp>
      <p:sp>
        <p:nvSpPr>
          <p:cNvPr id="36" name="가로 글상자 35"/>
          <p:cNvSpPr txBox="1"/>
          <p:nvPr/>
        </p:nvSpPr>
        <p:spPr>
          <a:xfrm>
            <a:off x="12877800" y="3238500"/>
            <a:ext cx="1788795" cy="41529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2100"/>
              <a:t>&lt;</a:t>
            </a:r>
            <a:r>
              <a:rPr lang="ko-KR" altLang="en-US" sz="2100"/>
              <a:t> 공격 서버 </a:t>
            </a:r>
            <a:r>
              <a:rPr lang="en-US" altLang="ko-KR" sz="2100"/>
              <a:t>&gt;</a:t>
            </a:r>
            <a:r>
              <a:rPr lang="ko-KR" altLang="en-US" sz="2100"/>
              <a:t> </a:t>
            </a:r>
            <a:endParaRPr lang="ko-KR" altLang="en-US" sz="210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829800" y="3901783"/>
            <a:ext cx="7848601" cy="108931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829800" y="5524500"/>
            <a:ext cx="7847883" cy="1287265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829800" y="7381337"/>
            <a:ext cx="7848600" cy="1953163"/>
          </a:xfrm>
          <a:prstGeom prst="rect">
            <a:avLst/>
          </a:prstGeom>
        </p:spPr>
      </p:pic>
      <p:sp>
        <p:nvSpPr>
          <p:cNvPr id="43" name="오른쪽 화살표 42"/>
          <p:cNvSpPr/>
          <p:nvPr/>
        </p:nvSpPr>
        <p:spPr>
          <a:xfrm rot="10778217">
            <a:off x="8916365" y="8187162"/>
            <a:ext cx="760072" cy="30673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4" name="가로 글상자 43"/>
          <p:cNvSpPr txBox="1"/>
          <p:nvPr/>
        </p:nvSpPr>
        <p:spPr>
          <a:xfrm>
            <a:off x="4191000" y="9168765"/>
            <a:ext cx="967740" cy="39433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2000"/>
              <a:t>fast.log</a:t>
            </a:r>
            <a:endParaRPr lang="en-US" altLang="ko-KR" sz="2000"/>
          </a:p>
        </p:txBody>
      </p:sp>
      <p:sp>
        <p:nvSpPr>
          <p:cNvPr id="45" name="가로 글상자 44"/>
          <p:cNvSpPr txBox="1"/>
          <p:nvPr/>
        </p:nvSpPr>
        <p:spPr>
          <a:xfrm>
            <a:off x="12900660" y="4963477"/>
            <a:ext cx="1729740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sudo apt update</a:t>
            </a:r>
            <a:endParaRPr lang="en-US" altLang="ko-KR"/>
          </a:p>
        </p:txBody>
      </p:sp>
      <p:sp>
        <p:nvSpPr>
          <p:cNvPr id="46" name="가로 글상자 45"/>
          <p:cNvSpPr txBox="1"/>
          <p:nvPr/>
        </p:nvSpPr>
        <p:spPr>
          <a:xfrm>
            <a:off x="12649200" y="6819900"/>
            <a:ext cx="2539365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sudo apt install -y hping3</a:t>
            </a:r>
            <a:endParaRPr lang="en-US" altLang="ko-KR"/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04800" y="7544629"/>
            <a:ext cx="8382001" cy="1561271"/>
          </a:xfrm>
          <a:prstGeom prst="rect">
            <a:avLst/>
          </a:prstGeom>
        </p:spPr>
      </p:pic>
      <p:sp>
        <p:nvSpPr>
          <p:cNvPr id="50" name="가로 글상자 49"/>
          <p:cNvSpPr txBox="1"/>
          <p:nvPr/>
        </p:nvSpPr>
        <p:spPr>
          <a:xfrm>
            <a:off x="12129135" y="9384030"/>
            <a:ext cx="3644265" cy="63627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sudo hping3 -S -p 22 -c 5 3.37.59.208</a:t>
            </a: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51" name="가로 글상자 50"/>
          <p:cNvSpPr txBox="1"/>
          <p:nvPr/>
        </p:nvSpPr>
        <p:spPr>
          <a:xfrm>
            <a:off x="2404110" y="6438900"/>
            <a:ext cx="4682490" cy="36004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공격이 들어오면 실시간으로 탐지로그가 뜸</a:t>
            </a:r>
            <a:r>
              <a:rPr lang="en-US" altLang="ko-KR"/>
              <a:t>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519798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5543550" y="621030"/>
            <a:ext cx="100012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공격 탐지 및 로그 확인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40" name="KakaoTalk_20251021_175355292.mp4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2971800" y="2695576"/>
            <a:ext cx="12649200" cy="740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8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36959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</p:childTnLst>
        </p:cTn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5543550" y="621030"/>
            <a:ext cx="100012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공격 탐지 및 로그 확인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761991" y="2705100"/>
            <a:ext cx="2520324" cy="61722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fast.log </a:t>
            </a:r>
            <a:r>
              <a: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로그 확인</a:t>
            </a:r>
            <a:endPara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95400" y="3543300"/>
            <a:ext cx="13992480" cy="2606305"/>
          </a:xfrm>
          <a:prstGeom prst="rect">
            <a:avLst/>
          </a:prstGeom>
        </p:spPr>
      </p:pic>
      <p:sp>
        <p:nvSpPr>
          <p:cNvPr id="43" name="가로 글상자 42"/>
          <p:cNvSpPr txBox="1"/>
          <p:nvPr/>
        </p:nvSpPr>
        <p:spPr>
          <a:xfrm>
            <a:off x="1242059" y="6221730"/>
            <a:ext cx="12550141" cy="90678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10/19/2025-17:52:24.494327 [**] [1:10000001:1] LOCAL TEST SSH SYN DETECTED [**] [Classification: (null)] [Priority: 3] {TCP} 124.50.92.50:6265 -&gt; 172.31.41.68:22</a:t>
            </a:r>
            <a:endParaRPr lang="en-US" altLang="ko-KR"/>
          </a:p>
          <a:p>
            <a:pPr lvl="0">
              <a:defRPr/>
            </a:pPr>
            <a:endParaRPr lang="en-US" altLang="ko-KR"/>
          </a:p>
        </p:txBody>
      </p:sp>
      <p:sp>
        <p:nvSpPr>
          <p:cNvPr id="48" name="직사각형 47"/>
          <p:cNvSpPr/>
          <p:nvPr/>
        </p:nvSpPr>
        <p:spPr>
          <a:xfrm>
            <a:off x="1371600" y="7124700"/>
            <a:ext cx="8153400" cy="2743200"/>
          </a:xfrm>
          <a:prstGeom prst="rect">
            <a:avLst/>
          </a:prstGeom>
          <a:solidFill>
            <a:srgbClr val="bfbfb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9" name="가로 글상자 48"/>
          <p:cNvSpPr txBox="1"/>
          <p:nvPr/>
        </p:nvSpPr>
        <p:spPr>
          <a:xfrm>
            <a:off x="1447800" y="7290435"/>
            <a:ext cx="8077200" cy="2425065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10/19/2025-17:52:24.494327 → 탐지 시각</a:t>
            </a:r>
            <a:endParaRPr lang="en-US" altLang="ko-KR"/>
          </a:p>
          <a:p>
            <a:pPr marL="257040" lvl="0" indent="-257040">
              <a:lnSpc>
                <a:spcPct val="50000"/>
              </a:lnSpc>
              <a:buFont typeface="Arial"/>
              <a:buChar char="•"/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[1:10000001:1] → GID:SID:REV (여기서 SID=10000001, 우리가 지정한 룰 ID)</a:t>
            </a:r>
            <a:endParaRPr lang="en-US" altLang="ko-KR"/>
          </a:p>
          <a:p>
            <a:pPr marL="257040" lvl="0" indent="-257040">
              <a:lnSpc>
                <a:spcPct val="50000"/>
              </a:lnSpc>
              <a:buFont typeface="Arial"/>
              <a:buChar char="•"/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LOCAL TEST SSH SYN DETECTED → 룰의 msg (탐지 메시지)</a:t>
            </a:r>
            <a:endParaRPr lang="en-US" altLang="ko-KR"/>
          </a:p>
          <a:p>
            <a:pPr marL="257040" lvl="0" indent="-257040">
              <a:lnSpc>
                <a:spcPct val="50000"/>
              </a:lnSpc>
              <a:buFont typeface="Arial"/>
              <a:buChar char="•"/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{TCP} → 프로토콜</a:t>
            </a:r>
            <a:endParaRPr lang="en-US" altLang="ko-KR"/>
          </a:p>
          <a:p>
            <a:pPr marL="257040" lvl="0" indent="-257040">
              <a:lnSpc>
                <a:spcPct val="50000"/>
              </a:lnSpc>
              <a:buFont typeface="Arial"/>
              <a:buChar char="•"/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124.50.92.50:6265 → 출발지 IP:포트 (공격자 / 테스트 머신)</a:t>
            </a:r>
            <a:endParaRPr lang="en-US" altLang="ko-KR"/>
          </a:p>
          <a:p>
            <a:pPr marL="257040" lvl="0" indent="-257040">
              <a:lnSpc>
                <a:spcPct val="50000"/>
              </a:lnSpc>
              <a:buFont typeface="Arial"/>
              <a:buChar char="•"/>
              <a:defRPr/>
            </a:pPr>
            <a:endParaRPr lang="en-US" altLang="ko-KR"/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/>
              <a:t>-&gt; 172.31.41.68:22 → 목적지 IP:포트 (모니터링되는 서버의 SSH)</a:t>
            </a:r>
            <a:endParaRPr lang="en-US" altLang="ko-KR"/>
          </a:p>
        </p:txBody>
      </p:sp>
      <p:sp>
        <p:nvSpPr>
          <p:cNvPr id="50" name="직사각형 49"/>
          <p:cNvSpPr/>
          <p:nvPr/>
        </p:nvSpPr>
        <p:spPr>
          <a:xfrm>
            <a:off x="1295400" y="5600700"/>
            <a:ext cx="13944600" cy="533400"/>
          </a:xfrm>
          <a:prstGeom prst="rect">
            <a:avLst/>
          </a:prstGeom>
          <a:noFill/>
          <a:ln w="635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77240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5543550" y="621030"/>
            <a:ext cx="100012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공격 탐지 및 로그 확인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761991" y="2705100"/>
            <a:ext cx="2606049" cy="61722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eve.json </a:t>
            </a:r>
            <a:r>
              <a: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로그 확인</a:t>
            </a:r>
            <a:endPara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53" name="KakaoTalk_20251021_175347593.mp4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3352800" y="3238499"/>
            <a:ext cx="11868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8460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</p:childTnLst>
        </p:cTn>
      </p:par>
    </p:tnLst>
  </p:timing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5543550" y="621030"/>
            <a:ext cx="100012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공격 탐지 및 로그 확인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761991" y="2705100"/>
            <a:ext cx="2606049" cy="61722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eve.json </a:t>
            </a:r>
            <a:r>
              <a: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로그 확인</a:t>
            </a:r>
            <a:endPara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56908" y="3467100"/>
            <a:ext cx="6587291" cy="5484077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70694" y="3625864"/>
            <a:ext cx="2205905" cy="2965435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>
          <a:xfrm>
            <a:off x="1066800" y="3659085"/>
            <a:ext cx="2209800" cy="1789214"/>
          </a:xfrm>
          <a:prstGeom prst="rect">
            <a:avLst/>
          </a:prstGeom>
          <a:noFill/>
          <a:ln w="635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0" name="가로 글상자 49"/>
          <p:cNvSpPr txBox="1"/>
          <p:nvPr/>
        </p:nvSpPr>
        <p:spPr>
          <a:xfrm>
            <a:off x="5175884" y="9029700"/>
            <a:ext cx="4577716" cy="3886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000"/>
              <a:t>sudo cat /var/log/suricata/eve.json | jq .</a:t>
            </a:r>
            <a:endParaRPr lang="en-US" altLang="ko-KR" sz="2000"/>
          </a:p>
        </p:txBody>
      </p:sp>
      <p:sp>
        <p:nvSpPr>
          <p:cNvPr id="53" name="가로 글상자 52"/>
          <p:cNvSpPr txBox="1"/>
          <p:nvPr/>
        </p:nvSpPr>
        <p:spPr>
          <a:xfrm>
            <a:off x="11386185" y="3211828"/>
            <a:ext cx="5073015" cy="6120766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/>
              <a:t>GID:SID:REV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 • GID = 1 (그룹 ID)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 • SID = 10000001 (우리가 지정한 룰 ID)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 • REV = 1 (룰 버전)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탐지 메시지 (msg)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“LOCAL TEST SSH SYN DETECTED”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  SSH 접속 시도(SYN 패킷) 감지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프로토콜 (proto)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TCP (IPv4 통신)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출발지 (공격자 / 테스트 머신)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124.50.92.50:8314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목적지 (모니터링 서버 / 대상)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172.31.41.68:22 (SSH 포트)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추가 정보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in_iface: ens5 (감시 중인 네트워크 인터페이스)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action: allowed (탐지만 수행, 차단 아님)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severity: 3 (중간 수준 경고)</a:t>
            </a:r>
            <a:endParaRPr lang="ko-KR" altLang="en-US"/>
          </a:p>
        </p:txBody>
      </p:sp>
      <p:sp>
        <p:nvSpPr>
          <p:cNvPr id="54" name="가로 글상자 53"/>
          <p:cNvSpPr txBox="1"/>
          <p:nvPr/>
        </p:nvSpPr>
        <p:spPr>
          <a:xfrm>
            <a:off x="6252210" y="3023235"/>
            <a:ext cx="2249805" cy="36576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탐지된 이벤트(</a:t>
            </a:r>
            <a:r>
              <a:rPr lang="en-US" altLang="ko-KR"/>
              <a:t>alert</a:t>
            </a:r>
            <a:r>
              <a:rPr lang="ko-KR" altLang="en-US"/>
              <a:t>)</a:t>
            </a:r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4495800" y="7124700"/>
            <a:ext cx="5410200" cy="990600"/>
          </a:xfrm>
          <a:prstGeom prst="rect">
            <a:avLst/>
          </a:prstGeom>
          <a:noFill/>
          <a:ln w="381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4495800" y="4610100"/>
            <a:ext cx="2743200" cy="228600"/>
          </a:xfrm>
          <a:prstGeom prst="rect">
            <a:avLst/>
          </a:prstGeom>
          <a:noFill/>
          <a:ln w="254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388616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5543550" y="621030"/>
            <a:ext cx="100012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공격 탐지 및 로그 확인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761991" y="2705100"/>
            <a:ext cx="2606049" cy="61722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eve.json </a:t>
            </a:r>
            <a:r>
              <a: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로그 확인</a:t>
            </a:r>
            <a:endPara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4494" y="3625864"/>
            <a:ext cx="2205905" cy="2965435"/>
          </a:xfrm>
          <a:prstGeom prst="rect">
            <a:avLst/>
          </a:prstGeom>
        </p:spPr>
      </p:pic>
      <p:sp>
        <p:nvSpPr>
          <p:cNvPr id="43" name="가로 글상자 42"/>
          <p:cNvSpPr txBox="1"/>
          <p:nvPr/>
        </p:nvSpPr>
        <p:spPr>
          <a:xfrm>
            <a:off x="5404484" y="8801100"/>
            <a:ext cx="4577716" cy="38862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000"/>
              <a:t>sudo cat /var/log/suricata/eve.json | jq .</a:t>
            </a:r>
            <a:endParaRPr lang="en-US" altLang="ko-KR" sz="2000"/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202242" y="3543300"/>
            <a:ext cx="6770557" cy="5162550"/>
          </a:xfrm>
          <a:prstGeom prst="rect">
            <a:avLst/>
          </a:prstGeom>
        </p:spPr>
      </p:pic>
      <p:sp>
        <p:nvSpPr>
          <p:cNvPr id="52" name="직사각형 51"/>
          <p:cNvSpPr/>
          <p:nvPr/>
        </p:nvSpPr>
        <p:spPr>
          <a:xfrm>
            <a:off x="990600" y="5448300"/>
            <a:ext cx="2209800" cy="1103415"/>
          </a:xfrm>
          <a:prstGeom prst="rect">
            <a:avLst/>
          </a:prstGeom>
          <a:noFill/>
          <a:ln w="635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3" name="가로 글상자 52"/>
          <p:cNvSpPr txBox="1"/>
          <p:nvPr/>
        </p:nvSpPr>
        <p:spPr>
          <a:xfrm>
            <a:off x="11277600" y="3009900"/>
            <a:ext cx="6473190" cy="638937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→ 2025-10-19T19:24:21.496814+0000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 탐지된 트래픽(플로우)의 시작 시각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src_ip / src_port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124.50.92.50:8314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 출발지 IP:포트 (공격자 또는 테스트 머신)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dest_ip / dest_port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172.31.41.68:22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 목적지 IP:포트 (모니터링되는 서버의 SSH 포트)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 direction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"to_server"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 트래픽이 서버 방향으로 전송되었음을 의미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 pkts_toserver / pkts_toclient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→ 1 / 0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 서버로 전송된 패킷은 1개, 클라이언트로 돌아온 패킷은 없음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  bytes_toserver / bytes_toclient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→ 66 / 0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 서버로 전송된 데이터는 66바이트</a:t>
            </a:r>
            <a:r>
              <a:rPr lang="en-US" altLang="ko-KR"/>
              <a:t>. </a:t>
            </a:r>
            <a:r>
              <a:rPr lang="ko-KR" altLang="en-US"/>
              <a:t>돌아오는</a:t>
            </a:r>
            <a:r>
              <a:rPr lang="en-US" altLang="ko-KR"/>
              <a:t> </a:t>
            </a:r>
            <a:r>
              <a:rPr lang="ko-KR" altLang="en-US"/>
              <a:t>바이트는 </a:t>
            </a:r>
            <a:r>
              <a:rPr lang="en-US" altLang="ko-KR"/>
              <a:t>0</a:t>
            </a:r>
            <a:endParaRPr lang="en-US" altLang="ko-KR"/>
          </a:p>
        </p:txBody>
      </p:sp>
      <p:sp>
        <p:nvSpPr>
          <p:cNvPr id="54" name="가로 글상자 53"/>
          <p:cNvSpPr txBox="1"/>
          <p:nvPr/>
        </p:nvSpPr>
        <p:spPr>
          <a:xfrm>
            <a:off x="5937885" y="3088005"/>
            <a:ext cx="3434715" cy="36766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탐지된</a:t>
            </a:r>
            <a:r>
              <a:rPr lang="ko-KR" altLang="en-US"/>
              <a:t> 알람의</a:t>
            </a:r>
            <a:r>
              <a:rPr lang="en-US" altLang="ko-KR"/>
              <a:t> 트래픽 흐름(flow)</a:t>
            </a:r>
            <a:endParaRPr lang="en-US" altLang="ko-KR"/>
          </a:p>
        </p:txBody>
      </p:sp>
      <p:sp>
        <p:nvSpPr>
          <p:cNvPr id="55" name="직사각형 54"/>
          <p:cNvSpPr/>
          <p:nvPr/>
        </p:nvSpPr>
        <p:spPr>
          <a:xfrm>
            <a:off x="4495800" y="4381500"/>
            <a:ext cx="1295400" cy="381000"/>
          </a:xfrm>
          <a:prstGeom prst="rect">
            <a:avLst/>
          </a:prstGeom>
          <a:noFill/>
          <a:ln w="254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4800600" y="4762500"/>
            <a:ext cx="2590800" cy="762000"/>
          </a:xfrm>
          <a:prstGeom prst="rect">
            <a:avLst/>
          </a:prstGeom>
          <a:noFill/>
          <a:ln w="25400">
            <a:solidFill>
              <a:srgbClr val="d70909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808655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b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27427" y="2552700"/>
            <a:ext cx="1663314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7" name="가로 글상자 16"/>
          <p:cNvSpPr txBox="1"/>
          <p:nvPr/>
        </p:nvSpPr>
        <p:spPr>
          <a:xfrm>
            <a:off x="5543550" y="621030"/>
            <a:ext cx="10001250" cy="1558290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공격 탐지 및 로그 확인</a:t>
            </a:r>
            <a:endParaRPr xmlns:mc="http://schemas.openxmlformats.org/markup-compatibility/2006" xmlns:hp="http://schemas.haansoft.com/office/presentation/8.0" lang="ko-KR" altLang="en-US" sz="60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35" name="가로 글상자 34"/>
          <p:cNvSpPr txBox="1"/>
          <p:nvPr/>
        </p:nvSpPr>
        <p:spPr>
          <a:xfrm>
            <a:off x="761991" y="2705100"/>
            <a:ext cx="2606049" cy="617220"/>
          </a:xfrm>
          <a:prstGeom prst="rect">
            <a:avLst/>
          </a:prstGeom>
        </p:spPr>
        <p:txBody>
          <a:bodyPr wrap="non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altLang="ko-KR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eve.json </a:t>
            </a:r>
            <a:r>
              <a: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  <a:solidFill>
                  <a:srgbClr val="000000"/>
                </a:solidFill>
                <a:latin typeface="맑은 고딕"/>
                <a:cs typeface="함초롬바탕"/>
              </a:rPr>
              <a:t>로그 확인</a:t>
            </a:r>
            <a:endParaRPr xmlns:mc="http://schemas.openxmlformats.org/markup-compatibility/2006" xmlns:hp="http://schemas.haansoft.com/office/presentation/8.0" lang="ko-KR" altLang="en-US" sz="2200" b="1" i="0" u="none" strike="noStrike" baseline="0" mc:Ignorable="hp" hp:hslEmbossed="0">
              <a:solidFill>
                <a:srgbClr val="000000"/>
              </a:solidFill>
              <a:latin typeface="맑은 고딕"/>
              <a:cs typeface="함초롬바탕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9829800" y="4145280"/>
            <a:ext cx="6248400" cy="4724399"/>
          </a:xfrm>
          <a:prstGeom prst="rect">
            <a:avLst/>
          </a:prstGeom>
          <a:solidFill>
            <a:srgbClr val="bfbfbf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8" name="가로 글상자 57"/>
          <p:cNvSpPr txBox="1"/>
          <p:nvPr/>
        </p:nvSpPr>
        <p:spPr>
          <a:xfrm>
            <a:off x="10210800" y="4526280"/>
            <a:ext cx="5692140" cy="404622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000" b="1"/>
              <a:t>시간(timestamp) </a:t>
            </a:r>
            <a:r>
              <a:rPr lang="ko-KR" altLang="en-US" sz="2000"/>
              <a:t>→ 2025-10-19T19:24:21 (UTC)</a:t>
            </a:r>
            <a:endParaRPr lang="ko-KR" altLang="en-US" sz="2000"/>
          </a:p>
          <a:p>
            <a:pPr lvl="0">
              <a:defRPr/>
            </a:pPr>
            <a:endParaRPr lang="ko-KR" altLang="en-US" sz="2000" b="1"/>
          </a:p>
          <a:p>
            <a:pPr lvl="0">
              <a:defRPr/>
            </a:pPr>
            <a:r>
              <a:rPr lang="ko-KR" altLang="en-US" sz="2000" b="1"/>
              <a:t>출발지(src_ip:port)</a:t>
            </a:r>
            <a:r>
              <a:rPr lang="ko-KR" altLang="en-US" sz="2000"/>
              <a:t> → 124.50.92.50 : 8314</a:t>
            </a:r>
            <a:endParaRPr lang="ko-KR" altLang="en-US" sz="2000"/>
          </a:p>
          <a:p>
            <a:pPr lvl="0">
              <a:defRPr/>
            </a:pPr>
            <a:endParaRPr lang="ko-KR" altLang="en-US" sz="2000" b="1"/>
          </a:p>
          <a:p>
            <a:pPr lvl="0">
              <a:defRPr/>
            </a:pPr>
            <a:r>
              <a:rPr lang="ko-KR" altLang="en-US" sz="2000" b="1"/>
              <a:t>목적지(dest_ip:port) </a:t>
            </a:r>
            <a:r>
              <a:rPr lang="ko-KR" altLang="en-US" sz="2000"/>
              <a:t>→ 172.31.41.68 : 22</a:t>
            </a:r>
            <a:endParaRPr lang="ko-KR" altLang="en-US" sz="2000"/>
          </a:p>
          <a:p>
            <a:pPr lvl="0">
              <a:defRPr/>
            </a:pPr>
            <a:endParaRPr lang="ko-KR" altLang="en-US" sz="2000" b="1"/>
          </a:p>
          <a:p>
            <a:pPr lvl="0">
              <a:defRPr/>
            </a:pPr>
            <a:r>
              <a:rPr lang="ko-KR" altLang="en-US" sz="2000" b="1"/>
              <a:t>탐지명(signature)</a:t>
            </a:r>
            <a:r>
              <a:rPr lang="ko-KR" altLang="en-US" sz="2000"/>
              <a:t> → LOCAL TEST SSH SYN DETECTED</a:t>
            </a:r>
            <a:endParaRPr lang="ko-KR" altLang="en-US" sz="2000"/>
          </a:p>
          <a:p>
            <a:pPr lvl="0">
              <a:defRPr/>
            </a:pPr>
            <a:endParaRPr lang="ko-KR" altLang="en-US" sz="2000" b="1"/>
          </a:p>
          <a:p>
            <a:pPr lvl="0">
              <a:defRPr/>
            </a:pPr>
            <a:r>
              <a:rPr lang="ko-KR" altLang="en-US" sz="2000" b="1"/>
              <a:t>패킷 수/크기</a:t>
            </a:r>
            <a:r>
              <a:rPr lang="ko-KR" altLang="en-US" sz="2000"/>
              <a:t> → 1 pkt / 66 bytes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 b="1"/>
              <a:t>action</a:t>
            </a:r>
            <a:r>
              <a:rPr lang="ko-KR" altLang="en-US" sz="2000"/>
              <a:t> → allowed (탐지만 수행, 차단 X)</a:t>
            </a:r>
            <a:endParaRPr lang="ko-KR" altLang="en-US" sz="2000"/>
          </a:p>
          <a:p>
            <a:pPr lvl="0">
              <a:defRPr/>
            </a:pPr>
            <a:endParaRPr lang="ko-KR" altLang="en-US" sz="2000"/>
          </a:p>
          <a:p>
            <a:pPr lvl="0">
              <a:defRPr/>
            </a:pPr>
            <a:r>
              <a:rPr lang="ko-KR" altLang="en-US" sz="2000" b="1"/>
              <a:t>severity</a:t>
            </a:r>
            <a:r>
              <a:rPr lang="ko-KR" altLang="en-US" sz="2000"/>
              <a:t> → 3 (중간 수준)</a:t>
            </a:r>
            <a:endParaRPr lang="ko-KR" altLang="en-US" sz="2000"/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90999" y="3024425"/>
            <a:ext cx="5317404" cy="69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64367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0142" y="7267726"/>
            <a:ext cx="1363135" cy="35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en-US" b="true" sz="2102">
                <a:solidFill>
                  <a:srgbClr val="EBEEF0"/>
                </a:solidFill>
                <a:latin typeface="Inter Bold"/>
                <a:ea typeface="Inter Bold"/>
                <a:cs typeface="Inter Bold"/>
                <a:sym typeface="Inter Bold"/>
              </a:rPr>
              <a:t>CONTACT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0142" y="7835498"/>
            <a:ext cx="1994892" cy="36552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943"/>
              </a:lnSpc>
              <a:spcBef>
                <a:spcPct val="0"/>
              </a:spcBef>
              <a:defRPr/>
            </a:pPr>
            <a:r>
              <a:rPr lang="en-US" sz="2102">
                <a:solidFill>
                  <a:srgbClr val="ebeef0"/>
                </a:solidFill>
                <a:latin typeface="Inter Light"/>
                <a:ea typeface="Inter Light"/>
                <a:cs typeface="Inter Light"/>
                <a:sym typeface="Inter Light"/>
              </a:rPr>
              <a:t>+</a:t>
            </a:r>
            <a:r>
              <a:rPr lang="en-US" altLang="ko-KR" sz="2102">
                <a:solidFill>
                  <a:srgbClr val="ebeef0"/>
                </a:solidFill>
                <a:latin typeface="Inter Light"/>
                <a:ea typeface="Inter Light"/>
                <a:cs typeface="Inter Light"/>
                <a:sym typeface="Inter Light"/>
              </a:rPr>
              <a:t>10-7225-7329</a:t>
            </a:r>
            <a:endParaRPr lang="en-US" altLang="ko-KR" sz="2102">
              <a:solidFill>
                <a:srgbClr val="ebeef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0142" y="8272767"/>
            <a:ext cx="3219376" cy="3664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943"/>
              </a:lnSpc>
              <a:spcBef>
                <a:spcPct val="0"/>
              </a:spcBef>
              <a:defRPr/>
            </a:pPr>
            <a:r>
              <a:rPr lang="en-US" altLang="ko-KR" sz="2102">
                <a:solidFill>
                  <a:srgbClr val="ebeef0"/>
                </a:solidFill>
                <a:latin typeface="Inter Light"/>
                <a:ea typeface="Inter Light"/>
                <a:cs typeface="Inter Light"/>
                <a:sym typeface="Inter Light"/>
              </a:rPr>
              <a:t>pkrgpth0619</a:t>
            </a:r>
            <a:r>
              <a:rPr lang="en-US" sz="2102">
                <a:solidFill>
                  <a:srgbClr val="ebeef0"/>
                </a:solidFill>
                <a:latin typeface="Inter Light"/>
                <a:ea typeface="Inter Light"/>
                <a:cs typeface="Inter Light"/>
                <a:sym typeface="Inter Light"/>
              </a:rPr>
              <a:t>@</a:t>
            </a:r>
            <a:r>
              <a:rPr lang="en-US" altLang="ko-KR" sz="2102">
                <a:solidFill>
                  <a:srgbClr val="ebeef0"/>
                </a:solidFill>
                <a:latin typeface="Inter Light"/>
                <a:ea typeface="Inter Light"/>
                <a:cs typeface="Inter Light"/>
                <a:sym typeface="Inter Light"/>
              </a:rPr>
              <a:t>naver.</a:t>
            </a:r>
            <a:r>
              <a:rPr lang="en-US" sz="2102">
                <a:solidFill>
                  <a:srgbClr val="ebeef0"/>
                </a:solidFill>
                <a:latin typeface="Inter Light"/>
                <a:ea typeface="Inter Light"/>
                <a:cs typeface="Inter Light"/>
                <a:sym typeface="Inter Light"/>
              </a:rPr>
              <a:t>com</a:t>
            </a:r>
            <a:endParaRPr lang="en-US" sz="2102">
              <a:solidFill>
                <a:srgbClr val="ebeef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name="TextBox 5" id="5"/>
          <p:cNvSpPr txBox="true"/>
          <p:nvPr/>
        </p:nvSpPr>
        <p:spPr>
          <a:xfrm rot="0">
            <a:off x="1720142" y="5193258"/>
            <a:ext cx="5756400" cy="125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1"/>
              </a:lnSpc>
              <a:spcBef>
                <a:spcPct val="0"/>
              </a:spcBef>
            </a:pPr>
            <a:r>
              <a:rPr lang="en-US" b="true" sz="7486">
                <a:solidFill>
                  <a:srgbClr val="EBEEF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14712436" y="816258"/>
            <a:ext cx="2884832" cy="737968"/>
          </a:xfrm>
          <a:custGeom>
            <a:avLst/>
            <a:gdLst/>
            <a:rect l="l" t="t" r="r" b="b"/>
            <a:pathLst>
              <a:path w="759791" h="194362">
                <a:moveTo>
                  <a:pt x="97181" y="0"/>
                </a:moveTo>
                <a:lnTo>
                  <a:pt x="662610" y="0"/>
                </a:lnTo>
                <a:cubicBezTo>
                  <a:pt x="716282" y="0"/>
                  <a:pt x="759791" y="43509"/>
                  <a:pt x="759791" y="97181"/>
                </a:cubicBezTo>
                <a:lnTo>
                  <a:pt x="759791" y="97181"/>
                </a:lnTo>
                <a:cubicBezTo>
                  <a:pt x="759791" y="122955"/>
                  <a:pt x="749552" y="147673"/>
                  <a:pt x="731327" y="165898"/>
                </a:cubicBezTo>
                <a:cubicBezTo>
                  <a:pt x="713102" y="184123"/>
                  <a:pt x="688384" y="194362"/>
                  <a:pt x="662610" y="194362"/>
                </a:cubicBezTo>
                <a:lnTo>
                  <a:pt x="97181" y="194362"/>
                </a:lnTo>
                <a:cubicBezTo>
                  <a:pt x="71407" y="194362"/>
                  <a:pt x="46689" y="184123"/>
                  <a:pt x="28464" y="165898"/>
                </a:cubicBezTo>
                <a:cubicBezTo>
                  <a:pt x="10239" y="147673"/>
                  <a:pt x="0" y="122955"/>
                  <a:pt x="0" y="97181"/>
                </a:cubicBezTo>
                <a:lnTo>
                  <a:pt x="0" y="97181"/>
                </a:lnTo>
                <a:cubicBezTo>
                  <a:pt x="0" y="71407"/>
                  <a:pt x="10239" y="46689"/>
                  <a:pt x="28464" y="28464"/>
                </a:cubicBezTo>
                <a:cubicBezTo>
                  <a:pt x="46689" y="10239"/>
                  <a:pt x="71407" y="0"/>
                  <a:pt x="97181" y="0"/>
                </a:cubicBezTo>
                <a:close/>
              </a:path>
            </a:pathLst>
          </a:custGeom>
          <a:solidFill>
            <a:srgbClr val="ebeef0"/>
          </a:solidFill>
        </p:spPr>
      </p:sp>
      <p:sp>
        <p:nvSpPr>
          <p:cNvPr id="9" name="TextBox 9"/>
          <p:cNvSpPr txBox="1"/>
          <p:nvPr/>
        </p:nvSpPr>
        <p:spPr>
          <a:xfrm>
            <a:off x="15041952" y="988102"/>
            <a:ext cx="2255448" cy="3453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803"/>
              </a:lnSpc>
              <a:spcBef>
                <a:spcPct val="0"/>
              </a:spcBef>
              <a:defRPr/>
            </a:pPr>
            <a:r>
              <a:rPr lang="ko-KR" altLang="en-US" sz="2002" b="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 </a:t>
            </a:r>
            <a:endParaRPr lang="ko-KR" altLang="en-US" sz="2002" b="1">
              <a:solidFill>
                <a:srgbClr val="000000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965</ep:Words>
  <ep:PresentationFormat>On-screen Show (4:3)</ep:PresentationFormat>
  <ep:Paragraphs>296</ep:Paragraphs>
  <ep:Slides>19</ep:Slides>
  <ep:Notes>17</ep:Notes>
  <ep:TotalTime>0</ep:TotalTime>
  <ep:HiddenSlides>0</ep:HiddenSlides>
  <ep:MMClips>2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NLab</cp:lastModifiedBy>
  <dcterms:modified xsi:type="dcterms:W3CDTF">2025-10-21T12:22:44.954</dcterms:modified>
  <cp:revision>272</cp:revision>
  <dc:title>그레이 블랙 심플한 마케터 포트폴리오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