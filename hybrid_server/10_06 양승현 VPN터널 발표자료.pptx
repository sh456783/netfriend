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9E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7F2EE4-0DEA-486F-8138-BC9D769E0577}" v="483" dt="2025-10-05T15:03:34.315"/>
    <p1510:client id="{A0948141-7A26-4AFF-AC6C-DE8169837546}" v="239" dt="2025-10-05T14:05:30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71551-3E46-05C2-F402-CD6EFD31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VPN 터널 구성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45A1B-6825-72EF-8D90-5EA678C18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>
                <a:ea typeface="맑은 고딕"/>
              </a:rPr>
              <a:t>온프레미스</a:t>
            </a:r>
            <a:r>
              <a:rPr lang="ko-KR" altLang="en-US" dirty="0">
                <a:ea typeface="맑은 고딕"/>
              </a:rPr>
              <a:t> 서버와 클라우드 인스턴스를 연결하는 보안 터널</a:t>
            </a:r>
            <a:endParaRPr lang="ko-KR" dirty="0">
              <a:ea typeface="맑은 고딕" panose="020B0503020000020004" pitchFamily="34" charset="-127"/>
            </a:endParaRPr>
          </a:p>
          <a:p>
            <a:r>
              <a:rPr lang="ko-KR" altLang="en-US" dirty="0">
                <a:ea typeface="맑은 고딕"/>
              </a:rPr>
              <a:t>각 상자마다 연결하기 위해 </a:t>
            </a:r>
            <a:r>
              <a:rPr lang="ko-KR" altLang="en-US" dirty="0" err="1">
                <a:ea typeface="맑은 고딕"/>
              </a:rPr>
              <a:t>IP를</a:t>
            </a:r>
            <a:r>
              <a:rPr lang="ko-KR" altLang="en-US" dirty="0">
                <a:ea typeface="맑은 고딕"/>
              </a:rPr>
              <a:t> 정적 연결</a:t>
            </a:r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63606C-2F03-F92E-87E0-47C3FAEC2AC3}"/>
              </a:ext>
            </a:extLst>
          </p:cNvPr>
          <p:cNvSpPr/>
          <p:nvPr/>
        </p:nvSpPr>
        <p:spPr>
          <a:xfrm>
            <a:off x="835872" y="3430268"/>
            <a:ext cx="4215431" cy="31936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PC </a:t>
            </a:r>
            <a:r>
              <a:rPr lang="ko-KR" altLang="en-US" dirty="0" err="1">
                <a:solidFill>
                  <a:schemeClr val="tx1"/>
                </a:solidFill>
                <a:ea typeface="맑은 고딕"/>
              </a:rPr>
              <a:t>Window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E9FD1A-B2BD-5006-353F-C0709D4DE95D}"/>
              </a:ext>
            </a:extLst>
          </p:cNvPr>
          <p:cNvSpPr/>
          <p:nvPr/>
        </p:nvSpPr>
        <p:spPr>
          <a:xfrm>
            <a:off x="1122947" y="3850105"/>
            <a:ext cx="3488351" cy="26504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가상 머신</a:t>
            </a:r>
            <a:endParaRPr 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198BA4-848B-7C6D-AEED-4FE1F34C9593}"/>
              </a:ext>
            </a:extLst>
          </p:cNvPr>
          <p:cNvSpPr/>
          <p:nvPr/>
        </p:nvSpPr>
        <p:spPr>
          <a:xfrm>
            <a:off x="1313447" y="4251158"/>
            <a:ext cx="2728311" cy="2055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 err="1">
                <a:ea typeface="맑은 고딕"/>
              </a:rPr>
              <a:t>Ubuntu</a:t>
            </a:r>
            <a:r>
              <a:rPr lang="ko-KR" altLang="en-US" dirty="0">
                <a:ea typeface="맑은 고딕"/>
              </a:rPr>
              <a:t> 서버</a:t>
            </a: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dirty="0">
                <a:ea typeface="+mn-lt"/>
                <a:cs typeface="+mn-lt"/>
              </a:rPr>
              <a:t>192.168.56.0/24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A30EDC-3FD2-5A2F-4105-339E477FC0A7}"/>
              </a:ext>
            </a:extLst>
          </p:cNvPr>
          <p:cNvSpPr/>
          <p:nvPr/>
        </p:nvSpPr>
        <p:spPr>
          <a:xfrm>
            <a:off x="6712906" y="3430267"/>
            <a:ext cx="4215431" cy="3071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클라우드 가상 네트워크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dirty="0">
                <a:solidFill>
                  <a:schemeClr val="tx1"/>
                </a:solidFill>
                <a:ea typeface="+mn-lt"/>
                <a:cs typeface="+mn-lt"/>
              </a:rPr>
              <a:t>VPC (</a:t>
            </a:r>
            <a:r>
              <a:rPr lang="ko-KR" dirty="0">
                <a:solidFill>
                  <a:schemeClr val="tx1"/>
                </a:solidFill>
                <a:latin typeface="Consolas"/>
                <a:ea typeface="맑은 고딕"/>
              </a:rPr>
              <a:t>10.0.0.0/16</a:t>
            </a:r>
            <a:r>
              <a:rPr lang="ko-KR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E873AA-D0ED-CBA1-C97E-7DA310582B90}"/>
              </a:ext>
            </a:extLst>
          </p:cNvPr>
          <p:cNvSpPr/>
          <p:nvPr/>
        </p:nvSpPr>
        <p:spPr>
          <a:xfrm>
            <a:off x="6982463" y="3850104"/>
            <a:ext cx="3488351" cy="2124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가상 서버 EC2 인스턴스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9C4631-4BD6-E7BA-61F3-9024E6DA63A3}"/>
              </a:ext>
            </a:extLst>
          </p:cNvPr>
          <p:cNvSpPr/>
          <p:nvPr/>
        </p:nvSpPr>
        <p:spPr>
          <a:xfrm>
            <a:off x="8217427" y="4638379"/>
            <a:ext cx="1876766" cy="11264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ko-KR" altLang="en-US" dirty="0">
                <a:solidFill>
                  <a:schemeClr val="tx1"/>
                </a:solidFill>
                <a:ea typeface="맑은 고딕"/>
              </a:rPr>
              <a:t>VPN 게이트웨이</a:t>
            </a:r>
          </a:p>
          <a:p>
            <a:pPr algn="r"/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pPr algn="r"/>
            <a:endParaRPr lang="ko-KR" altLang="en-US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34B26B-0E7E-CFB4-13AB-F44E1FCE5563}"/>
              </a:ext>
            </a:extLst>
          </p:cNvPr>
          <p:cNvSpPr/>
          <p:nvPr/>
        </p:nvSpPr>
        <p:spPr>
          <a:xfrm>
            <a:off x="1411980" y="4647138"/>
            <a:ext cx="1876766" cy="1126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err="1">
                <a:solidFill>
                  <a:schemeClr val="tx1"/>
                </a:solidFill>
                <a:ea typeface="맑은 고딕"/>
              </a:rPr>
              <a:t>StrongSwan</a:t>
            </a:r>
            <a:endParaRPr lang="ko-KR" err="1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dirty="0" err="1">
                <a:solidFill>
                  <a:schemeClr val="tx1"/>
                </a:solidFill>
                <a:ea typeface="맑은 고딕"/>
              </a:rPr>
              <a:t>IPsec</a:t>
            </a:r>
            <a:r>
              <a:rPr lang="ko-KR" altLang="en-US" dirty="0">
                <a:solidFill>
                  <a:schemeClr val="tx1"/>
                </a:solidFill>
                <a:ea typeface="맑은 고딕"/>
              </a:rPr>
              <a:t>​</a:t>
            </a:r>
            <a:endParaRPr lang="ko-KR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812EE0-EFD6-4271-3ACF-3AE4594575AE}"/>
              </a:ext>
            </a:extLst>
          </p:cNvPr>
          <p:cNvSpPr/>
          <p:nvPr/>
        </p:nvSpPr>
        <p:spPr>
          <a:xfrm>
            <a:off x="2385341" y="5055683"/>
            <a:ext cx="6837947" cy="3108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ea typeface="+mn-lt"/>
                <a:cs typeface="+mn-lt"/>
              </a:rPr>
              <a:t>Site-to-Site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>
                <a:ea typeface="맑은 고딕"/>
              </a:rPr>
              <a:t>VPN 터널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05736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BB766-3ACB-9AF4-5ECE-004BCEE3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283" y="365125"/>
            <a:ext cx="3752850" cy="1346729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가상머신 설치</a:t>
            </a:r>
            <a:endParaRPr lang="ko-KR" altLang="en-US" dirty="0"/>
          </a:p>
        </p:txBody>
      </p:sp>
      <p:pic>
        <p:nvPicPr>
          <p:cNvPr id="4" name="내용 개체 틀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8A5966-CA0D-F861-620B-BB43D33E1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63" y="-520"/>
            <a:ext cx="7858207" cy="6857343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CD66547-6232-8607-A845-C8144C203610}"/>
              </a:ext>
            </a:extLst>
          </p:cNvPr>
          <p:cNvSpPr txBox="1">
            <a:spLocks/>
          </p:cNvSpPr>
          <p:nvPr/>
        </p:nvSpPr>
        <p:spPr>
          <a:xfrm>
            <a:off x="8024283" y="1825625"/>
            <a:ext cx="39370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>
                <a:ea typeface="맑은 고딕"/>
              </a:rPr>
              <a:t>Ubuntu</a:t>
            </a:r>
            <a:r>
              <a:rPr lang="ko-KR" altLang="en-US" dirty="0">
                <a:ea typeface="맑은 고딕"/>
              </a:rPr>
              <a:t> ISO 파일을 이용해 가상머신에 </a:t>
            </a:r>
            <a:r>
              <a:rPr lang="ko-KR" altLang="en-US" err="1">
                <a:ea typeface="맑은 고딕"/>
              </a:rPr>
              <a:t>OS를</a:t>
            </a:r>
            <a:r>
              <a:rPr lang="ko-KR" altLang="en-US">
                <a:ea typeface="맑은 고딕"/>
              </a:rPr>
              <a:t> 설치</a:t>
            </a:r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</a:rPr>
              <a:t>사용 </a:t>
            </a:r>
            <a:r>
              <a:rPr lang="ko-KR" altLang="en-US" dirty="0" err="1">
                <a:ea typeface="맑은 고딕"/>
              </a:rPr>
              <a:t>CPU와</a:t>
            </a:r>
            <a:r>
              <a:rPr lang="ko-KR" altLang="en-US" dirty="0">
                <a:ea typeface="맑은 고딕"/>
              </a:rPr>
              <a:t> RAM, 저장 용량 설정</a:t>
            </a: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2984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131A-A64E-6180-AF93-2292DA9A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99369-080E-2F00-ADE1-762FF778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283" y="365125"/>
            <a:ext cx="3752850" cy="1346729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가상머신 설정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604F785-2488-9D3E-687D-879B69C696B5}"/>
              </a:ext>
            </a:extLst>
          </p:cNvPr>
          <p:cNvSpPr txBox="1">
            <a:spLocks/>
          </p:cNvSpPr>
          <p:nvPr/>
        </p:nvSpPr>
        <p:spPr>
          <a:xfrm>
            <a:off x="8024283" y="1825625"/>
            <a:ext cx="39370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apt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update로</a:t>
            </a:r>
            <a:r>
              <a:rPr lang="ko-KR" altLang="en-US" dirty="0">
                <a:ea typeface="맑은 고딕"/>
              </a:rPr>
              <a:t> 패키지 업데이트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 dirty="0" err="1">
                <a:ea typeface="맑은 고딕"/>
              </a:rPr>
              <a:t>Strongswan</a:t>
            </a:r>
            <a:r>
              <a:rPr lang="ko-KR" altLang="en-US" dirty="0">
                <a:ea typeface="맑은 고딕"/>
              </a:rPr>
              <a:t> 다운로드</a:t>
            </a:r>
          </a:p>
        </p:txBody>
      </p:sp>
      <p:pic>
        <p:nvPicPr>
          <p:cNvPr id="11" name="내용 개체 틀 10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C98107-9B59-92C4-EA05-A6C3FCCAE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5" y="893570"/>
            <a:ext cx="7910471" cy="596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5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9410-F48B-7245-B5D2-661A5C16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D39FE-BC0C-7ABD-C759-6E0442559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283" y="365125"/>
            <a:ext cx="3752850" cy="1346729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VPC 설정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CA302C2-AF8A-F68F-F5EF-1DF3398C958A}"/>
              </a:ext>
            </a:extLst>
          </p:cNvPr>
          <p:cNvSpPr txBox="1">
            <a:spLocks/>
          </p:cNvSpPr>
          <p:nvPr/>
        </p:nvSpPr>
        <p:spPr>
          <a:xfrm>
            <a:off x="8024283" y="1825625"/>
            <a:ext cx="39370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Virtual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Private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Cloud</a:t>
            </a:r>
            <a:endParaRPr lang="ko-KR" altLang="en-US" dirty="0" err="1">
              <a:solidFill>
                <a:srgbClr val="000000"/>
              </a:solidFill>
              <a:latin typeface="맑은 고딕"/>
              <a:ea typeface="맑은 고딕"/>
            </a:endParaRPr>
          </a:p>
          <a:p>
            <a:endParaRPr lang="ko-KR" altLang="en-US" dirty="0">
              <a:ea typeface="맑은 고딕"/>
              <a:cs typeface="Arial"/>
            </a:endParaRPr>
          </a:p>
          <a:p>
            <a:r>
              <a:rPr lang="ko-KR" altLang="en-US" dirty="0">
                <a:ea typeface="맑은 고딕"/>
                <a:cs typeface="Arial"/>
              </a:rPr>
              <a:t>인스턴스(서버)</a:t>
            </a:r>
            <a:r>
              <a:rPr lang="ko-KR" altLang="en-US" dirty="0" err="1">
                <a:ea typeface="맑은 고딕"/>
                <a:cs typeface="Arial"/>
              </a:rPr>
              <a:t>를</a:t>
            </a:r>
            <a:r>
              <a:rPr lang="ko-KR" altLang="en-US" dirty="0">
                <a:ea typeface="맑은 고딕"/>
                <a:cs typeface="Arial"/>
              </a:rPr>
              <a:t> 책상으로 본다면 사무실</a:t>
            </a:r>
          </a:p>
          <a:p>
            <a:endParaRPr lang="ko-KR" altLang="en-US" dirty="0">
              <a:ea typeface="맑은 고딕"/>
              <a:cs typeface="Arial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IP 주소 범위,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서브넷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, 라우팅 테이블을 통합 설정</a:t>
            </a:r>
          </a:p>
          <a:p>
            <a:endParaRPr lang="ko-KR" altLang="en-US" dirty="0">
              <a:ea typeface="맑은 고딕"/>
            </a:endParaRPr>
          </a:p>
        </p:txBody>
      </p:sp>
      <p:pic>
        <p:nvPicPr>
          <p:cNvPr id="5" name="내용 개체 틀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A5527A-B47C-3437-E59B-933C2E704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34" y="794"/>
            <a:ext cx="3605548" cy="5807676"/>
          </a:xfrm>
          <a:prstGeom prst="rect">
            <a:avLst/>
          </a:prstGeom>
        </p:spPr>
      </p:pic>
      <p:pic>
        <p:nvPicPr>
          <p:cNvPr id="7" name="그림 6" descr="텍스트, 전자제품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349521-1506-6FC3-8800-80B391E32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66" y="0"/>
            <a:ext cx="4070168" cy="580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9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EAD6-A5D7-9700-F9BC-DCD21052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559FF-AE95-93DD-FD6D-DB6E7F45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851" y="365125"/>
            <a:ext cx="5915282" cy="1346729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가상머신 설정</a:t>
            </a:r>
            <a:endParaRPr lang="ko-KR" altLang="en-US" dirty="0"/>
          </a:p>
        </p:txBody>
      </p:sp>
      <p:pic>
        <p:nvPicPr>
          <p:cNvPr id="5" name="내용 개체 틀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31BABE-A7B8-6DB6-E2D5-03D5F6F59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111" r="51720"/>
          <a:stretch>
            <a:fillRect/>
          </a:stretch>
        </p:blipFill>
        <p:spPr>
          <a:xfrm>
            <a:off x="0" y="0"/>
            <a:ext cx="5102141" cy="3657740"/>
          </a:xfrm>
          <a:prstGeom prst="rect">
            <a:avLst/>
          </a:prstGeom>
        </p:spPr>
      </p:pic>
      <p:pic>
        <p:nvPicPr>
          <p:cNvPr id="7" name="그림 6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7F28D6-A476-EAC0-3F33-7DD9123C8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" y="2872945"/>
            <a:ext cx="5543134" cy="3985055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14D1C12-88FB-37A1-AA99-3051FAD51519}"/>
              </a:ext>
            </a:extLst>
          </p:cNvPr>
          <p:cNvSpPr txBox="1">
            <a:spLocks/>
          </p:cNvSpPr>
          <p:nvPr/>
        </p:nvSpPr>
        <p:spPr>
          <a:xfrm>
            <a:off x="5939732" y="1834383"/>
            <a:ext cx="6021608" cy="43425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가상 </a:t>
            </a:r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프라이빗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게이트로 보안 설정 후 VPN 연결 생성</a:t>
            </a:r>
          </a:p>
          <a:p>
            <a:r>
              <a:rPr lang="ko-KR" altLang="en-US" dirty="0">
                <a:ea typeface="맑은 고딕"/>
                <a:cs typeface="Arial"/>
              </a:rPr>
              <a:t>VPN 접근을 위한 키를 다운</a:t>
            </a:r>
          </a:p>
          <a:p>
            <a:endParaRPr lang="ko-KR" altLang="en-US" dirty="0">
              <a:ea typeface="맑은 고딕"/>
            </a:endParaRPr>
          </a:p>
        </p:txBody>
      </p:sp>
      <p:pic>
        <p:nvPicPr>
          <p:cNvPr id="8" name="그림 7" descr="텍스트, 전자제품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937625-3C4D-20E1-10A9-90A0CAB70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274" y="3192162"/>
            <a:ext cx="3523478" cy="36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1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AE5E-3B86-E8E0-4DFB-C2726C48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B2B0C-8ED7-BAE4-11FA-E1347087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283" y="365125"/>
            <a:ext cx="3752850" cy="1346729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우분투 설정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81537D5-B267-3893-1C4B-79B8340E350D}"/>
              </a:ext>
            </a:extLst>
          </p:cNvPr>
          <p:cNvSpPr txBox="1">
            <a:spLocks/>
          </p:cNvSpPr>
          <p:nvPr/>
        </p:nvSpPr>
        <p:spPr>
          <a:xfrm>
            <a:off x="8024283" y="1825625"/>
            <a:ext cx="39370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Ipsec.conf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네트워크 설정 파일 수정</a:t>
            </a:r>
            <a:endParaRPr lang="ko-KR" dirty="0"/>
          </a:p>
          <a:p>
            <a:endParaRPr lang="ko-KR" altLang="en-US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r>
              <a:rPr lang="ko-KR" altLang="en-US" dirty="0">
                <a:ea typeface="맑은 고딕"/>
                <a:cs typeface="Arial"/>
              </a:rPr>
              <a:t>도착지는 VPC IP</a:t>
            </a:r>
          </a:p>
          <a:p>
            <a:r>
              <a:rPr lang="ko-KR" altLang="en-US" dirty="0">
                <a:ea typeface="맑은 고딕"/>
                <a:cs typeface="Arial"/>
              </a:rPr>
              <a:t>경유지는 공유기 IP</a:t>
            </a:r>
          </a:p>
          <a:p>
            <a:endParaRPr lang="ko-KR" altLang="en-US" dirty="0">
              <a:ea typeface="맑은 고딕"/>
              <a:cs typeface="Arial"/>
            </a:endParaRPr>
          </a:p>
          <a:p>
            <a:pPr marL="0" indent="0">
              <a:buNone/>
            </a:pPr>
            <a:r>
              <a:rPr lang="ko-KR" altLang="en-US" dirty="0">
                <a:ea typeface="맑은 고딕"/>
                <a:cs typeface="Arial"/>
              </a:rPr>
              <a:t>&lt;- VPN 접속 키 입력</a:t>
            </a:r>
          </a:p>
          <a:p>
            <a:pPr marL="0" indent="0">
              <a:buNone/>
            </a:pPr>
            <a:endParaRPr lang="ko-KR" altLang="en-US" dirty="0">
              <a:ea typeface="맑은 고딕"/>
              <a:cs typeface="Arial"/>
            </a:endParaRPr>
          </a:p>
          <a:p>
            <a:endParaRPr lang="ko-KR" altLang="en-US" dirty="0">
              <a:ea typeface="맑은 고딕"/>
            </a:endParaRPr>
          </a:p>
        </p:txBody>
      </p:sp>
      <p:pic>
        <p:nvPicPr>
          <p:cNvPr id="12" name="내용 개체 틀 11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AC278-E60B-6BF2-6496-3800A3B19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" y="-2295"/>
            <a:ext cx="7661137" cy="6050691"/>
          </a:xfrm>
          <a:prstGeom prst="rect">
            <a:avLst/>
          </a:prstGeom>
        </p:spPr>
      </p:pic>
      <p:pic>
        <p:nvPicPr>
          <p:cNvPr id="13" name="그림 1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97F98C-769E-A53A-16A2-611760E48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936" y="4501463"/>
            <a:ext cx="5960076" cy="470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5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DB53-1EBD-7817-9CAB-E035F698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DDADA-3B24-35EC-FDC1-14A235B4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1270000"/>
            <a:ext cx="10515600" cy="1325563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VPN 터널 확인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3E601ED-8B64-204F-319C-13AA8361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5675" y="2322567"/>
            <a:ext cx="4048125" cy="42047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ko-KR" altLang="en-US" dirty="0" err="1">
                <a:ea typeface="맑은 고딕"/>
              </a:rPr>
              <a:t>MyAWSConnection</a:t>
            </a:r>
            <a:r>
              <a:rPr lang="ko-KR" altLang="en-US" dirty="0">
                <a:ea typeface="맑은 고딕"/>
              </a:rPr>
              <a:t>[1]이 ESTABLISHED = 터널 연결 완료</a:t>
            </a:r>
          </a:p>
        </p:txBody>
      </p:sp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6A25C8-5C73-05DC-8753-08BA8127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9975"/>
            <a:ext cx="72104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82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6049-D14E-26B5-3EDB-16F4F5E8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D2E55-C0E5-F92C-8971-757F8C08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핑 테스트 실패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BF12A3A-24E5-59ED-5CF4-2892264C4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967"/>
            <a:ext cx="10515600" cy="48143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914400" lvl="1" indent="-457200">
              <a:buAutoNum type="arabicPeriod"/>
            </a:pPr>
            <a:r>
              <a:rPr lang="ko-KR" altLang="en-US" dirty="0">
                <a:ea typeface="맑은 고딕"/>
              </a:rPr>
              <a:t>생성 </a:t>
            </a:r>
            <a:r>
              <a:rPr lang="ko-KR" altLang="en-US" dirty="0" err="1">
                <a:ea typeface="맑은 고딕"/>
              </a:rPr>
              <a:t>VPC가</a:t>
            </a:r>
            <a:r>
              <a:rPr lang="ko-KR" altLang="en-US" dirty="0">
                <a:ea typeface="맑은 고딕"/>
              </a:rPr>
              <a:t> 아닌 기본 제공 </a:t>
            </a:r>
            <a:r>
              <a:rPr lang="ko-KR" altLang="en-US" dirty="0" err="1">
                <a:ea typeface="맑은 고딕"/>
              </a:rPr>
              <a:t>VPC를</a:t>
            </a:r>
            <a:r>
              <a:rPr lang="ko-KR" altLang="en-US" dirty="0">
                <a:ea typeface="맑은 고딕"/>
              </a:rPr>
              <a:t> 사용해 설정 혼동 - 해결</a:t>
            </a:r>
          </a:p>
          <a:p>
            <a:pPr marL="914400" lvl="1" indent="-457200">
              <a:buAutoNum type="arabicPeriod"/>
            </a:pPr>
            <a:endParaRPr lang="ko-KR" altLang="en-US" dirty="0">
              <a:ea typeface="맑은 고딕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ea typeface="맑은 고딕"/>
              </a:rPr>
              <a:t>공유기 IP, 가상 내부 IP, </a:t>
            </a:r>
            <a:r>
              <a:rPr lang="ko-KR" dirty="0">
                <a:ea typeface="+mn-lt"/>
                <a:cs typeface="+mn-lt"/>
              </a:rPr>
              <a:t>VPC 네트워크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IP, </a:t>
            </a:r>
            <a:r>
              <a:rPr lang="en-US" dirty="0">
                <a:ea typeface="+mn-lt"/>
                <a:cs typeface="+mn-lt"/>
              </a:rPr>
              <a:t>VPN </a:t>
            </a:r>
            <a:r>
              <a:rPr lang="en-US" dirty="0" err="1">
                <a:ea typeface="+mn-lt"/>
                <a:cs typeface="+mn-lt"/>
              </a:rPr>
              <a:t>게이트웨이</a:t>
            </a:r>
            <a:r>
              <a:rPr lang="en-US" dirty="0">
                <a:ea typeface="+mn-lt"/>
                <a:cs typeface="+mn-lt"/>
              </a:rPr>
              <a:t> IP, EC2 Private IP – VPN </a:t>
            </a:r>
            <a:r>
              <a:rPr lang="ko-KR" altLang="en-US" dirty="0">
                <a:ea typeface="+mn-lt"/>
                <a:cs typeface="+mn-lt"/>
              </a:rPr>
              <a:t>통로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 err="1">
                <a:ea typeface="+mn-lt"/>
                <a:cs typeface="+mn-lt"/>
              </a:rPr>
              <a:t>연결되어서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en-US" altLang="ko-KR" dirty="0" err="1">
                <a:ea typeface="+mn-lt"/>
                <a:cs typeface="+mn-lt"/>
              </a:rPr>
              <a:t>불가</a:t>
            </a:r>
            <a:endParaRPr lang="en-US" altLang="ko-KR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endParaRPr lang="en-US" altLang="ko-KR" dirty="0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en-US" altLang="ko-KR" dirty="0">
                <a:ea typeface="맑은 고딕"/>
              </a:rPr>
              <a:t>VPC </a:t>
            </a:r>
            <a:r>
              <a:rPr lang="en-US" altLang="ko-KR" err="1">
                <a:ea typeface="맑은 고딕"/>
              </a:rPr>
              <a:t>인바운드</a:t>
            </a:r>
            <a:r>
              <a:rPr lang="en-US" altLang="ko-KR" dirty="0">
                <a:ea typeface="맑은 고딕"/>
              </a:rPr>
              <a:t> - </a:t>
            </a:r>
            <a:r>
              <a:rPr lang="en-US" altLang="ko-KR" err="1">
                <a:ea typeface="맑은 고딕"/>
              </a:rPr>
              <a:t>아웃바운드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에러</a:t>
            </a:r>
            <a:endParaRPr lang="en-US" altLang="ko-KR">
              <a:ea typeface="맑은 고딕"/>
            </a:endParaRPr>
          </a:p>
          <a:p>
            <a:pPr marL="1371600" lvl="2">
              <a:buFont typeface="Wingdings" panose="020B0604020202020204" pitchFamily="34" charset="0"/>
              <a:buChar char="§"/>
            </a:pPr>
            <a:r>
              <a:rPr lang="en-US" altLang="ko-KR" err="1">
                <a:ea typeface="맑은 고딕"/>
              </a:rPr>
              <a:t>인바운드는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입장</a:t>
            </a:r>
            <a:r>
              <a:rPr lang="en-US" altLang="ko-KR" dirty="0">
                <a:ea typeface="맑은 고딕"/>
              </a:rPr>
              <a:t>, </a:t>
            </a:r>
            <a:r>
              <a:rPr lang="en-US" altLang="ko-KR" err="1">
                <a:ea typeface="맑은 고딕"/>
              </a:rPr>
              <a:t>아웃바운드는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퇴장</a:t>
            </a:r>
            <a:endParaRPr lang="en-US" altLang="ko-KR" dirty="0" err="1">
              <a:ea typeface="맑은 고딕"/>
            </a:endParaRPr>
          </a:p>
          <a:p>
            <a:pPr marL="1371600" lvl="2">
              <a:buFont typeface="Wingdings" panose="020B0604020202020204" pitchFamily="34" charset="0"/>
              <a:buChar char="§"/>
            </a:pPr>
            <a:endParaRPr lang="en-US" altLang="ko-KR" dirty="0">
              <a:ea typeface="맑은 고딕"/>
            </a:endParaRPr>
          </a:p>
          <a:p>
            <a:pPr marL="457200" lvl="1" indent="0">
              <a:buNone/>
            </a:pPr>
            <a:endParaRPr lang="en-US" altLang="ko-KR" dirty="0">
              <a:ea typeface="맑은 고딕"/>
            </a:endParaRPr>
          </a:p>
          <a:p>
            <a:pPr marL="457200" lvl="1" indent="0">
              <a:buNone/>
            </a:pPr>
            <a:r>
              <a:rPr lang="en-US" altLang="ko-KR" dirty="0" err="1">
                <a:ea typeface="맑은 고딕"/>
              </a:rPr>
              <a:t>해결을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위해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로그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분석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시스템</a:t>
            </a:r>
            <a:r>
              <a:rPr lang="en-US" altLang="ko-KR" dirty="0">
                <a:ea typeface="맑은 고딕"/>
              </a:rPr>
              <a:t>(CloudWatch, Flow Logs)를 </a:t>
            </a:r>
            <a:r>
              <a:rPr lang="en-US" altLang="ko-KR" dirty="0" err="1">
                <a:ea typeface="맑은 고딕"/>
              </a:rPr>
              <a:t>이용해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Ping이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도착하는지</a:t>
            </a:r>
            <a:r>
              <a:rPr lang="en-US" altLang="ko-KR" dirty="0">
                <a:ea typeface="맑은 고딕"/>
              </a:rPr>
              <a:t>, </a:t>
            </a:r>
            <a:r>
              <a:rPr lang="en-US" altLang="ko-KR" dirty="0" err="1">
                <a:ea typeface="맑은 고딕"/>
              </a:rPr>
              <a:t>어디에서</a:t>
            </a:r>
            <a:r>
              <a:rPr lang="en-US" altLang="ko-KR" dirty="0">
                <a:ea typeface="맑은 고딕"/>
              </a:rPr>
              <a:t> 끊기는지, 답장을 </a:t>
            </a:r>
            <a:r>
              <a:rPr lang="en-US" altLang="ko-KR" dirty="0" err="1">
                <a:ea typeface="맑은 고딕"/>
              </a:rPr>
              <a:t>보내는지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확인할</a:t>
            </a:r>
            <a:r>
              <a:rPr lang="en-US" altLang="ko-KR" dirty="0">
                <a:ea typeface="맑은 고딕"/>
              </a:rPr>
              <a:t> </a:t>
            </a:r>
            <a:r>
              <a:rPr lang="en-US" altLang="ko-KR" dirty="0" err="1">
                <a:ea typeface="맑은 고딕"/>
              </a:rPr>
              <a:t>계획</a:t>
            </a:r>
          </a:p>
          <a:p>
            <a:pPr marL="914400" lvl="1" indent="-457200">
              <a:buAutoNum type="arabicPeriod"/>
            </a:pPr>
            <a:endParaRPr lang="en-US" dirty="0">
              <a:ea typeface="맑은 고딕"/>
            </a:endParaRPr>
          </a:p>
          <a:p>
            <a:pPr marL="914400" lvl="1" indent="-457200">
              <a:buAutoNum type="arabicPeriod"/>
            </a:pPr>
            <a:endParaRPr 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971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VPN 터널 구성</vt:lpstr>
      <vt:lpstr>가상머신 설치</vt:lpstr>
      <vt:lpstr>가상머신 설정</vt:lpstr>
      <vt:lpstr>VPC 설정</vt:lpstr>
      <vt:lpstr>가상머신 설정</vt:lpstr>
      <vt:lpstr>우분투 설정</vt:lpstr>
      <vt:lpstr>VPN 터널 확인</vt:lpstr>
      <vt:lpstr>핑 테스트 실패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243</cp:revision>
  <dcterms:created xsi:type="dcterms:W3CDTF">2025-10-05T13:31:54Z</dcterms:created>
  <dcterms:modified xsi:type="dcterms:W3CDTF">2025-10-05T15:03:41Z</dcterms:modified>
</cp:coreProperties>
</file>